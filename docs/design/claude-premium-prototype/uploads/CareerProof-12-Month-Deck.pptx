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153240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1109" y="609600"/>
            <a:ext cx="257256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ARCHITECTURE &amp; ROADMAP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114365" y="614363"/>
            <a:ext cx="148783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V2.0 · APR 2026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762000" y="2128168"/>
            <a:ext cx="14287500" cy="3381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4875" y="2259137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76325" y="2213893"/>
            <a:ext cx="36834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· WPI MENTOR &amp; ADVISOR REVIEW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62000" y="2733005"/>
            <a:ext cx="147161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/ PRODUCT ENGINEERING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3175918"/>
            <a:ext cx="13735050" cy="248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CareerProof AI: Enterprise B2B2C SaaS Architecture &amp; 18-Month Build Plan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762000" y="6100465"/>
            <a:ext cx="137350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focused 12-month plan to ship the full three-sided platform — verified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F2A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.edu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students, recruiter marketplace, and university analytics — with proof-of-skill at the core.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7430095"/>
            <a:ext cx="1163985" cy="3000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825" y="7496770"/>
            <a:ext cx="99253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B2B2C SAAS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2021235" y="7430095"/>
            <a:ext cx="1347267" cy="3000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5060" y="7496770"/>
            <a:ext cx="11758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USER SIDES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463751" y="7430095"/>
            <a:ext cx="1530548" cy="3000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7576" y="7496770"/>
            <a:ext cx="135909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PROOF-OF-SKILL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5089550" y="7430095"/>
            <a:ext cx="1163985" cy="3000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3375" y="7496770"/>
            <a:ext cx="99253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AI-POWERED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348785" y="7430095"/>
            <a:ext cx="2263527" cy="300038"/>
          </a:xfrm>
          <a:prstGeom prst="rect">
            <a:avLst/>
          </a:prstGeom>
          <a:ln w="9525">
            <a:solidFill>
              <a:srgbClr val="0F17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2610" y="7496770"/>
            <a:ext cx="209207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PRODUCTION READY · M12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62000" y="8377833"/>
            <a:ext cx="8656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2000" y="8611195"/>
            <a:ext cx="28756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ARC-002 / R1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011067" y="8377833"/>
            <a:ext cx="8656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11067" y="8611195"/>
            <a:ext cx="38039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WPI Mentors · Advisors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61437" y="8377833"/>
            <a:ext cx="56964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61437" y="8611195"/>
            <a:ext cx="34978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Eng. Lead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014597" y="8377833"/>
            <a:ext cx="668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014597" y="8611195"/>
            <a:ext cx="3125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for Review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26047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&amp; OPPORTUNITY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020231" y="614363"/>
            <a:ext cx="158196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TRUST GAPS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trust gaps. One verified profile graph.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Students, recruiters, and universities all want the same outcome — better-matched early-career hires — but each side is missing something the other two have. We close the loop.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973660"/>
            <a:ext cx="5435575" cy="3186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6150248"/>
            <a:ext cx="54355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973660"/>
            <a:ext cx="5435575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8050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316560"/>
            <a:ext cx="495113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STUDENT GAP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76325" y="3559448"/>
            <a:ext cx="49511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Career readiness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76325" y="4202385"/>
            <a:ext cx="4951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Students don't know which roles they're ready for, what skills are missing, or how to prove what they actually know. Resumes flatten years of work into a page of bullets.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76325" y="5145360"/>
            <a:ext cx="48069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6325" y="5364435"/>
            <a:ext cx="224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Self-reported readiness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76325" y="5554935"/>
            <a:ext cx="49511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≪ employer reality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26175" y="2973660"/>
            <a:ext cx="5435575" cy="3186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6175" y="6150248"/>
            <a:ext cx="54355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6175" y="2973660"/>
            <a:ext cx="5435575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6175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52225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5" name="Text 23"/>
          <p:cNvSpPr/>
          <p:nvPr/>
        </p:nvSpPr>
        <p:spPr>
          <a:xfrm>
            <a:off x="6740500" y="3316560"/>
            <a:ext cx="495113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RECRUITER GAP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740500" y="3559448"/>
            <a:ext cx="49511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in early-career talent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740500" y="4202385"/>
            <a:ext cx="4951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Recruiters can't verify resume claims at scale. GitHub, coursework, and portfolios sit in 5 different places. Visa-compatibility filtering is broken or manual.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740500" y="5154885"/>
            <a:ext cx="48069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9" name="Text 27"/>
          <p:cNvSpPr/>
          <p:nvPr/>
        </p:nvSpPr>
        <p:spPr>
          <a:xfrm>
            <a:off x="6740500" y="5373960"/>
            <a:ext cx="2719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Time-to-verify per candidate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740500" y="5564460"/>
            <a:ext cx="49511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10–30 min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090350" y="2973660"/>
            <a:ext cx="5435650" cy="3186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90350" y="6150248"/>
            <a:ext cx="54356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90350" y="2973660"/>
            <a:ext cx="543565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90350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16475" y="2973660"/>
            <a:ext cx="9525" cy="318611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6" name="Text 34"/>
          <p:cNvSpPr/>
          <p:nvPr/>
        </p:nvSpPr>
        <p:spPr>
          <a:xfrm>
            <a:off x="12404675" y="3316560"/>
            <a:ext cx="49512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UNIVERSITY GAP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2404675" y="3559448"/>
            <a:ext cx="49512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Cohort-level analytics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404675" y="4202385"/>
            <a:ext cx="49512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Career centers run on surveys. They can't see which majors are job-ready, where skill gaps are widening, or which employers are converting — privately and at the cohort level.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2404675" y="5154885"/>
            <a:ext cx="4807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0" name="Text 38"/>
          <p:cNvSpPr/>
          <p:nvPr/>
        </p:nvSpPr>
        <p:spPr>
          <a:xfrm>
            <a:off x="12404675" y="5373960"/>
            <a:ext cx="158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 data lag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2404675" y="5564460"/>
            <a:ext cx="49512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6–18 months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2000" y="8647807"/>
            <a:ext cx="16764000" cy="1029593"/>
          </a:xfrm>
          <a:prstGeom prst="rect">
            <a:avLst/>
          </a:prstGeom>
          <a:solidFill>
            <a:srgbClr val="FFFFFF"/>
          </a:solidFill>
          <a:ln w="9525">
            <a:solidFill>
              <a:srgbClr val="0F17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8225" y="9079260"/>
            <a:ext cx="113868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OPPORTUNITY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2386459" y="8866882"/>
            <a:ext cx="15309215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verified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.edu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profile graph anchored on proof-of-skill — not claims — that all three sides depend on. The same data improves student outcomes, recruiter conversion, and university benchmarking.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6" name="Text 44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184442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OVERVIEW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361518" y="614363"/>
            <a:ext cx="22406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THREE-SIDED MARKETPLACE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platform, three sides, one verified profile.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side has a distinct surface area, business model, and trust anchor — but they share the same proof-of-skill data plane.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97435"/>
            <a:ext cx="5435575" cy="5654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8342114"/>
            <a:ext cx="54355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697435"/>
            <a:ext cx="5435575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8050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5375" y="3059385"/>
            <a:ext cx="491189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A · PRIMARY USER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95375" y="3321323"/>
            <a:ext cx="491189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95375" y="3764235"/>
            <a:ext cx="49118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B2C · FREE TIER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5860" y="4159523"/>
            <a:ext cx="4835690" cy="334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Verified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.edu </a:t>
            </a:r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5860" y="4455691"/>
            <a:ext cx="4835690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AI-built proof-backed profile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65860" y="4747096"/>
            <a:ext cx="4835690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Tailored applications &amp; cover letters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5860" y="5038502"/>
            <a:ext cx="4835690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 scoring &amp; project recs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5860" y="5329907"/>
            <a:ext cx="4835690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Mock interview prep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5860" y="5621313"/>
            <a:ext cx="4835690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discovery (opt-in)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95375" y="6122268"/>
            <a:ext cx="1894582" cy="300038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9200" y="6188943"/>
            <a:ext cx="172313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ANCHOR · .EDU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6426175" y="2697435"/>
            <a:ext cx="5435575" cy="5654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6175" y="8342114"/>
            <a:ext cx="54355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6175" y="2697435"/>
            <a:ext cx="5435575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26175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52225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0" name="Text 28"/>
          <p:cNvSpPr/>
          <p:nvPr/>
        </p:nvSpPr>
        <p:spPr>
          <a:xfrm>
            <a:off x="6759550" y="3059385"/>
            <a:ext cx="491189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B · B2B CUSTOMER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759550" y="3321323"/>
            <a:ext cx="491189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Recruiters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6759550" y="3764235"/>
            <a:ext cx="49118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B2B · SUBSCRIPTION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0035" y="4159523"/>
            <a:ext cx="4774540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Verified company profile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Faceted candidate search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Visa-compat filter built in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Evidence-backed profile view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Invitations &amp; pipeline tracking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Anti-ghosting trust score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759550" y="6117506"/>
            <a:ext cx="2761357" cy="300038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3375" y="6184181"/>
            <a:ext cx="25965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ANCHOR · COMPANY VERIFY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12090350" y="2697435"/>
            <a:ext cx="5435650" cy="5654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90350" y="8342114"/>
            <a:ext cx="54356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90350" y="2697435"/>
            <a:ext cx="543565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90350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0" name="Shape 38"/>
          <p:cNvSpPr/>
          <p:nvPr/>
        </p:nvSpPr>
        <p:spPr>
          <a:xfrm>
            <a:off x="17516475" y="2697435"/>
            <a:ext cx="9525" cy="56542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" name="Text 39"/>
          <p:cNvSpPr/>
          <p:nvPr/>
        </p:nvSpPr>
        <p:spPr>
          <a:xfrm>
            <a:off x="12423725" y="3059385"/>
            <a:ext cx="491196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C · INSTITUTIONAL B2B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2423725" y="3321323"/>
            <a:ext cx="4911967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Universities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2423725" y="3764235"/>
            <a:ext cx="491196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B2B · INSTITUTIONAL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494210" y="4159523"/>
            <a:ext cx="4774615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Aggregate readiness analytics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Department-level skill gaps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Cohort employment outcomes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engagement trends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k-anon &amp; FERPA-aware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Exportable reports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2423725" y="6117506"/>
            <a:ext cx="3021360" cy="300038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47550" y="6184181"/>
            <a:ext cx="28643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ANCHOR · INSTITUTION + DPA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762000" y="8580239"/>
            <a:ext cx="16764000" cy="1097161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8" name="Text 46"/>
          <p:cNvSpPr/>
          <p:nvPr/>
        </p:nvSpPr>
        <p:spPr>
          <a:xfrm>
            <a:off x="1066800" y="9040713"/>
            <a:ext cx="15697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DIFFERENTIATOR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846115" y="8808839"/>
            <a:ext cx="1480633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 over claims. Every skill on a CareerProof profile carries evidence — GitHub commits, coursework, portfolio links, certifications, deployed projects. This is what powers recruiter trust, university benchmarking, and the AI scoring students get back.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1" name="Text 49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1636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MODULES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38151" y="614363"/>
            <a:ext cx="348948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~50 APPLICATION MODULES · 4 SURFACES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surfaces. One coherent product.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surface ships with a consistent design system, RBAC profile, and shared services underneath.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97435"/>
            <a:ext cx="4048125" cy="6979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9667875"/>
            <a:ext cx="40481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697435"/>
            <a:ext cx="4048125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9175" y="2983185"/>
            <a:ext cx="363978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M-01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19175" y="3207023"/>
            <a:ext cx="363978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Portal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9025" y="3584153"/>
            <a:ext cx="35401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.edu signup &amp; profile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upload &amp; parsing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discovery &amp; tracker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Tailored bullets &amp; cover letters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queue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Notification center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19175" y="9282113"/>
            <a:ext cx="3639788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A · FREE TIER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5000625" y="2697435"/>
            <a:ext cx="4048125" cy="6979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00625" y="9667875"/>
            <a:ext cx="40481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00625" y="2697435"/>
            <a:ext cx="4048125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0625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2" name="Shape 20"/>
          <p:cNvSpPr/>
          <p:nvPr/>
        </p:nvSpPr>
        <p:spPr>
          <a:xfrm>
            <a:off x="9039225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983185"/>
            <a:ext cx="363978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M-02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257800" y="3207023"/>
            <a:ext cx="363978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Proof-of-Skill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7650" y="3584153"/>
            <a:ext cx="35401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 model · 6 types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 repo analyzer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proof upload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Verified / unverified status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 cards on profile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Privacy controls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257800" y="9282113"/>
            <a:ext cx="3639788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CROSS-CUTTING · DIFFERENTIATOR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9239250" y="2697435"/>
            <a:ext cx="4048125" cy="6979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9250" y="9667875"/>
            <a:ext cx="40481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39250" y="2697435"/>
            <a:ext cx="4048125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9250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77850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2" name="Text 30"/>
          <p:cNvSpPr/>
          <p:nvPr/>
        </p:nvSpPr>
        <p:spPr>
          <a:xfrm>
            <a:off x="9496425" y="2983185"/>
            <a:ext cx="363978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M-03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496425" y="3207023"/>
            <a:ext cx="363978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Marketplace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66275" y="3584153"/>
            <a:ext cx="35401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signup &amp; verification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Faceted candidate search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Visa-aware filtering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Invitations &amp; messaging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Saved lists &amp; analytics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Stripe billing &amp; plans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496425" y="9282113"/>
            <a:ext cx="3639788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B · SUBSCRIPTION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13477875" y="2697435"/>
            <a:ext cx="4048125" cy="6979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77875" y="9667875"/>
            <a:ext cx="40481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77875" y="2697435"/>
            <a:ext cx="4048125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9" name="Shape 37"/>
          <p:cNvSpPr/>
          <p:nvPr/>
        </p:nvSpPr>
        <p:spPr>
          <a:xfrm>
            <a:off x="13477875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0" name="Shape 38"/>
          <p:cNvSpPr/>
          <p:nvPr/>
        </p:nvSpPr>
        <p:spPr>
          <a:xfrm>
            <a:off x="17516475" y="2697435"/>
            <a:ext cx="9525" cy="697996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" name="Text 39"/>
          <p:cNvSpPr/>
          <p:nvPr/>
        </p:nvSpPr>
        <p:spPr>
          <a:xfrm>
            <a:off x="13735050" y="2983185"/>
            <a:ext cx="363978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M-04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3735050" y="3207023"/>
            <a:ext cx="363978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Dashboard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804900" y="3584153"/>
            <a:ext cx="35401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Aggregate readiness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Departmental skill gaps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Cohort employment outcomes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Employer engagement trends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Anonymized · k-anon enforced</a:t>
            </a:r>
            <a:endParaRPr lang="en-US" sz="1125" dirty="0"/>
          </a:p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Exportable reports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3735050" y="9282113"/>
            <a:ext cx="3639788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C · INSTITUTIONAL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6" name="Text 44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36450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737904" y="614363"/>
            <a:ext cx="186429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8-TIER LAYERED VIEW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762000" y="1100138"/>
            <a:ext cx="16764000" cy="838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525" y="2080171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9" name="Shape 7"/>
          <p:cNvSpPr/>
          <p:nvPr/>
        </p:nvSpPr>
        <p:spPr>
          <a:xfrm>
            <a:off x="771525" y="1109663"/>
            <a:ext cx="1714500" cy="9705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0" name="Shape 8"/>
          <p:cNvSpPr/>
          <p:nvPr/>
        </p:nvSpPr>
        <p:spPr>
          <a:xfrm>
            <a:off x="2476500" y="1109663"/>
            <a:ext cx="9525" cy="9705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" y="1243013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· CLIENTS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942975" y="1409700"/>
            <a:ext cx="1438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42975" y="1638300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Next.js 14 · Tailwind · shadcn/ui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19375" y="1453976"/>
            <a:ext cx="107803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19375" y="1726332"/>
            <a:ext cx="107803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19375" y="1453976"/>
            <a:ext cx="107803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9375" y="1453976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7887" y="145397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520651"/>
            <a:ext cx="92563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Portal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754562" y="1453976"/>
            <a:ext cx="1150739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754562" y="1726332"/>
            <a:ext cx="115073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" name="Shape 20"/>
          <p:cNvSpPr/>
          <p:nvPr/>
        </p:nvSpPr>
        <p:spPr>
          <a:xfrm>
            <a:off x="3754562" y="1453976"/>
            <a:ext cx="115073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3" name="Shape 21"/>
          <p:cNvSpPr/>
          <p:nvPr/>
        </p:nvSpPr>
        <p:spPr>
          <a:xfrm>
            <a:off x="3754562" y="145397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5776" y="145397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5" name="Text 23"/>
          <p:cNvSpPr/>
          <p:nvPr/>
        </p:nvSpPr>
        <p:spPr>
          <a:xfrm>
            <a:off x="3878387" y="1520651"/>
            <a:ext cx="998339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Portal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4962451" y="1453976"/>
            <a:ext cx="1333649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962451" y="1726332"/>
            <a:ext cx="133364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" name="Shape 26"/>
          <p:cNvSpPr/>
          <p:nvPr/>
        </p:nvSpPr>
        <p:spPr>
          <a:xfrm>
            <a:off x="4962451" y="1453976"/>
            <a:ext cx="133364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" name="Shape 27"/>
          <p:cNvSpPr/>
          <p:nvPr/>
        </p:nvSpPr>
        <p:spPr>
          <a:xfrm>
            <a:off x="4962451" y="1453976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86574" y="145397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" name="Text 29"/>
          <p:cNvSpPr/>
          <p:nvPr/>
        </p:nvSpPr>
        <p:spPr>
          <a:xfrm>
            <a:off x="5086276" y="1520651"/>
            <a:ext cx="1181249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Console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6353249" y="1453976"/>
            <a:ext cx="1083692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3249" y="1726332"/>
            <a:ext cx="108369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3249" y="1453976"/>
            <a:ext cx="108369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3249" y="1453976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6" name="Shape 34"/>
          <p:cNvSpPr/>
          <p:nvPr/>
        </p:nvSpPr>
        <p:spPr>
          <a:xfrm>
            <a:off x="7427416" y="145397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" name="Text 35"/>
          <p:cNvSpPr/>
          <p:nvPr/>
        </p:nvSpPr>
        <p:spPr>
          <a:xfrm>
            <a:off x="6477074" y="1520651"/>
            <a:ext cx="93129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Admin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7494091" y="1453976"/>
            <a:ext cx="1061665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98866" y="1520651"/>
            <a:ext cx="92831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Marketing Site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8612907" y="1453976"/>
            <a:ext cx="1167631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17682" y="1520651"/>
            <a:ext cx="10342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Email Templates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771525" y="2905944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Shape 41"/>
          <p:cNvSpPr/>
          <p:nvPr/>
        </p:nvSpPr>
        <p:spPr>
          <a:xfrm>
            <a:off x="771525" y="2089696"/>
            <a:ext cx="1714500" cy="81624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44" name="Shape 42"/>
          <p:cNvSpPr/>
          <p:nvPr/>
        </p:nvSpPr>
        <p:spPr>
          <a:xfrm>
            <a:off x="2476500" y="2089696"/>
            <a:ext cx="9525" cy="81624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5" name="Text 43"/>
          <p:cNvSpPr/>
          <p:nvPr/>
        </p:nvSpPr>
        <p:spPr>
          <a:xfrm>
            <a:off x="942975" y="2223046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GATEWAY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942975" y="2389733"/>
            <a:ext cx="1438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&amp; BFF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942975" y="2618333"/>
            <a:ext cx="1438275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FastAPI · OpenAPI 3.1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19375" y="2356842"/>
            <a:ext cx="1025872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24150" y="2423517"/>
            <a:ext cx="89252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REST API · /v1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3702397" y="2356842"/>
            <a:ext cx="959197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07172" y="2423517"/>
            <a:ext cx="82584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 Service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4718745" y="2356842"/>
            <a:ext cx="825475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3520" y="2423517"/>
            <a:ext cx="6921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Webhooks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5601370" y="2356842"/>
            <a:ext cx="919088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06145" y="2423517"/>
            <a:ext cx="78573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Rate Limiter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6577608" y="2356842"/>
            <a:ext cx="914177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82383" y="2423517"/>
            <a:ext cx="78082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Edge Cache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7548935" y="2356842"/>
            <a:ext cx="1297632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53710" y="2423517"/>
            <a:ext cx="116428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Schema Contracts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771525" y="4076477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71525" y="2915469"/>
            <a:ext cx="1714500" cy="11610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62" name="Shape 60"/>
          <p:cNvSpPr/>
          <p:nvPr/>
        </p:nvSpPr>
        <p:spPr>
          <a:xfrm>
            <a:off x="2476500" y="2915469"/>
            <a:ext cx="9525" cy="11610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3" name="Text 61"/>
          <p:cNvSpPr/>
          <p:nvPr/>
        </p:nvSpPr>
        <p:spPr>
          <a:xfrm>
            <a:off x="942975" y="3048819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 · DOMAIN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942975" y="3215506"/>
            <a:ext cx="1438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Services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942975" y="3634606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Bounded contexts · ~22 services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619375" y="3098081"/>
            <a:ext cx="1467073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2619375" y="3370436"/>
            <a:ext cx="146707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8" name="Shape 66"/>
          <p:cNvSpPr/>
          <p:nvPr/>
        </p:nvSpPr>
        <p:spPr>
          <a:xfrm>
            <a:off x="2619375" y="3098081"/>
            <a:ext cx="146707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9" name="Shape 67"/>
          <p:cNvSpPr/>
          <p:nvPr/>
        </p:nvSpPr>
        <p:spPr>
          <a:xfrm>
            <a:off x="2619375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0" name="Shape 68"/>
          <p:cNvSpPr/>
          <p:nvPr/>
        </p:nvSpPr>
        <p:spPr>
          <a:xfrm>
            <a:off x="4076923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0" y="3164756"/>
            <a:ext cx="131467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 &amp; .edu Verify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4143598" y="3098081"/>
            <a:ext cx="609823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4143598" y="3370436"/>
            <a:ext cx="60982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4" name="Shape 72"/>
          <p:cNvSpPr/>
          <p:nvPr/>
        </p:nvSpPr>
        <p:spPr>
          <a:xfrm>
            <a:off x="4143598" y="3098081"/>
            <a:ext cx="60982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5" name="Shape 73"/>
          <p:cNvSpPr/>
          <p:nvPr/>
        </p:nvSpPr>
        <p:spPr>
          <a:xfrm>
            <a:off x="4143598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6" name="Shape 74"/>
          <p:cNvSpPr/>
          <p:nvPr/>
        </p:nvSpPr>
        <p:spPr>
          <a:xfrm>
            <a:off x="4743896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7" name="Text 75"/>
          <p:cNvSpPr/>
          <p:nvPr/>
        </p:nvSpPr>
        <p:spPr>
          <a:xfrm>
            <a:off x="4267423" y="3164756"/>
            <a:ext cx="45742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Profile</a:t>
            </a:r>
            <a:endParaRPr lang="en-US" sz="975" dirty="0"/>
          </a:p>
        </p:txBody>
      </p:sp>
      <p:sp>
        <p:nvSpPr>
          <p:cNvPr id="78" name="Shape 76"/>
          <p:cNvSpPr/>
          <p:nvPr/>
        </p:nvSpPr>
        <p:spPr>
          <a:xfrm>
            <a:off x="4810571" y="3098081"/>
            <a:ext cx="69979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4810571" y="3370436"/>
            <a:ext cx="69979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0" name="Shape 78"/>
          <p:cNvSpPr/>
          <p:nvPr/>
        </p:nvSpPr>
        <p:spPr>
          <a:xfrm>
            <a:off x="4810571" y="3098081"/>
            <a:ext cx="69979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1" name="Shape 79"/>
          <p:cNvSpPr/>
          <p:nvPr/>
        </p:nvSpPr>
        <p:spPr>
          <a:xfrm>
            <a:off x="4810571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2" name="Shape 80"/>
          <p:cNvSpPr/>
          <p:nvPr/>
        </p:nvSpPr>
        <p:spPr>
          <a:xfrm>
            <a:off x="5500836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3" name="Text 81"/>
          <p:cNvSpPr/>
          <p:nvPr/>
        </p:nvSpPr>
        <p:spPr>
          <a:xfrm>
            <a:off x="4934396" y="3164756"/>
            <a:ext cx="5473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</a:t>
            </a:r>
            <a:endParaRPr lang="en-US" sz="975" dirty="0"/>
          </a:p>
        </p:txBody>
      </p:sp>
      <p:sp>
        <p:nvSpPr>
          <p:cNvPr id="84" name="Shape 82"/>
          <p:cNvSpPr/>
          <p:nvPr/>
        </p:nvSpPr>
        <p:spPr>
          <a:xfrm>
            <a:off x="5567511" y="3098081"/>
            <a:ext cx="847502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5567511" y="3370436"/>
            <a:ext cx="84750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6" name="Shape 84"/>
          <p:cNvSpPr/>
          <p:nvPr/>
        </p:nvSpPr>
        <p:spPr>
          <a:xfrm>
            <a:off x="5567511" y="3098081"/>
            <a:ext cx="84750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7" name="Shape 85"/>
          <p:cNvSpPr/>
          <p:nvPr/>
        </p:nvSpPr>
        <p:spPr>
          <a:xfrm>
            <a:off x="5567511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8" name="Shape 86"/>
          <p:cNvSpPr/>
          <p:nvPr/>
        </p:nvSpPr>
        <p:spPr>
          <a:xfrm>
            <a:off x="6405488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9" name="Text 87"/>
          <p:cNvSpPr/>
          <p:nvPr/>
        </p:nvSpPr>
        <p:spPr>
          <a:xfrm>
            <a:off x="5691336" y="3164756"/>
            <a:ext cx="69510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Match</a:t>
            </a:r>
            <a:endParaRPr lang="en-US" sz="975" dirty="0"/>
          </a:p>
        </p:txBody>
      </p:sp>
      <p:sp>
        <p:nvSpPr>
          <p:cNvPr id="90" name="Shape 88"/>
          <p:cNvSpPr/>
          <p:nvPr/>
        </p:nvSpPr>
        <p:spPr>
          <a:xfrm>
            <a:off x="6472163" y="3098081"/>
            <a:ext cx="87890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6472163" y="3370436"/>
            <a:ext cx="87890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2" name="Shape 90"/>
          <p:cNvSpPr/>
          <p:nvPr/>
        </p:nvSpPr>
        <p:spPr>
          <a:xfrm>
            <a:off x="6472163" y="3098081"/>
            <a:ext cx="87890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3" name="Shape 91"/>
          <p:cNvSpPr/>
          <p:nvPr/>
        </p:nvSpPr>
        <p:spPr>
          <a:xfrm>
            <a:off x="6472163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4" name="Shape 92"/>
          <p:cNvSpPr/>
          <p:nvPr/>
        </p:nvSpPr>
        <p:spPr>
          <a:xfrm>
            <a:off x="7341543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5" name="Text 93"/>
          <p:cNvSpPr/>
          <p:nvPr/>
        </p:nvSpPr>
        <p:spPr>
          <a:xfrm>
            <a:off x="6595988" y="3164756"/>
            <a:ext cx="72650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Generation</a:t>
            </a:r>
            <a:endParaRPr lang="en-US" sz="975" dirty="0"/>
          </a:p>
        </p:txBody>
      </p:sp>
      <p:sp>
        <p:nvSpPr>
          <p:cNvPr id="96" name="Shape 94"/>
          <p:cNvSpPr/>
          <p:nvPr/>
        </p:nvSpPr>
        <p:spPr>
          <a:xfrm>
            <a:off x="7408218" y="3098081"/>
            <a:ext cx="1169491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7408218" y="3370436"/>
            <a:ext cx="1169491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8" name="Shape 96"/>
          <p:cNvSpPr/>
          <p:nvPr/>
        </p:nvSpPr>
        <p:spPr>
          <a:xfrm>
            <a:off x="7408218" y="3098081"/>
            <a:ext cx="1169491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9" name="Shape 97"/>
          <p:cNvSpPr/>
          <p:nvPr/>
        </p:nvSpPr>
        <p:spPr>
          <a:xfrm>
            <a:off x="7408218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0" name="Shape 98"/>
          <p:cNvSpPr/>
          <p:nvPr/>
        </p:nvSpPr>
        <p:spPr>
          <a:xfrm>
            <a:off x="8568184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1" name="Text 99"/>
          <p:cNvSpPr/>
          <p:nvPr/>
        </p:nvSpPr>
        <p:spPr>
          <a:xfrm>
            <a:off x="7532043" y="3164756"/>
            <a:ext cx="101709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Queue</a:t>
            </a:r>
            <a:endParaRPr lang="en-US" sz="975" dirty="0"/>
          </a:p>
        </p:txBody>
      </p:sp>
      <p:sp>
        <p:nvSpPr>
          <p:cNvPr id="102" name="Shape 100"/>
          <p:cNvSpPr/>
          <p:nvPr/>
        </p:nvSpPr>
        <p:spPr>
          <a:xfrm>
            <a:off x="8634859" y="3098081"/>
            <a:ext cx="67173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34859" y="3370436"/>
            <a:ext cx="6717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634859" y="3098081"/>
            <a:ext cx="6717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634859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97070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7" name="Text 105"/>
          <p:cNvSpPr/>
          <p:nvPr/>
        </p:nvSpPr>
        <p:spPr>
          <a:xfrm>
            <a:off x="8758684" y="3164756"/>
            <a:ext cx="51933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Tracker</a:t>
            </a:r>
            <a:endParaRPr lang="en-US" sz="975" dirty="0"/>
          </a:p>
        </p:txBody>
      </p:sp>
      <p:sp>
        <p:nvSpPr>
          <p:cNvPr id="108" name="Shape 106"/>
          <p:cNvSpPr/>
          <p:nvPr/>
        </p:nvSpPr>
        <p:spPr>
          <a:xfrm>
            <a:off x="9363745" y="3098081"/>
            <a:ext cx="102431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363745" y="3370436"/>
            <a:ext cx="102431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363745" y="3098081"/>
            <a:ext cx="102431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363745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378529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3" name="Text 111"/>
          <p:cNvSpPr/>
          <p:nvPr/>
        </p:nvSpPr>
        <p:spPr>
          <a:xfrm>
            <a:off x="9487570" y="3164756"/>
            <a:ext cx="87191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Proof-of-Skill</a:t>
            </a:r>
            <a:endParaRPr lang="en-US" sz="975" dirty="0"/>
          </a:p>
        </p:txBody>
      </p:sp>
      <p:sp>
        <p:nvSpPr>
          <p:cNvPr id="114" name="Shape 112"/>
          <p:cNvSpPr/>
          <p:nvPr/>
        </p:nvSpPr>
        <p:spPr>
          <a:xfrm>
            <a:off x="10445204" y="3098081"/>
            <a:ext cx="83239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445204" y="3370436"/>
            <a:ext cx="83239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445204" y="3098081"/>
            <a:ext cx="83239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45204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268075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9" name="Text 117"/>
          <p:cNvSpPr/>
          <p:nvPr/>
        </p:nvSpPr>
        <p:spPr>
          <a:xfrm>
            <a:off x="10569029" y="3164756"/>
            <a:ext cx="67999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</a:t>
            </a:r>
            <a:endParaRPr lang="en-US" sz="975" dirty="0"/>
          </a:p>
        </p:txBody>
      </p:sp>
      <p:sp>
        <p:nvSpPr>
          <p:cNvPr id="120" name="Shape 118"/>
          <p:cNvSpPr/>
          <p:nvPr/>
        </p:nvSpPr>
        <p:spPr>
          <a:xfrm>
            <a:off x="11334750" y="3098081"/>
            <a:ext cx="112558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334750" y="3370436"/>
            <a:ext cx="112558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334750" y="3098081"/>
            <a:ext cx="112558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334750" y="3098081"/>
            <a:ext cx="28575" cy="281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2450812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5" name="Text 123"/>
          <p:cNvSpPr/>
          <p:nvPr/>
        </p:nvSpPr>
        <p:spPr>
          <a:xfrm>
            <a:off x="11458575" y="3164756"/>
            <a:ext cx="97318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Mock Interview</a:t>
            </a:r>
            <a:endParaRPr lang="en-US" sz="975" dirty="0"/>
          </a:p>
        </p:txBody>
      </p:sp>
      <p:sp>
        <p:nvSpPr>
          <p:cNvPr id="126" name="Shape 124"/>
          <p:cNvSpPr/>
          <p:nvPr/>
        </p:nvSpPr>
        <p:spPr>
          <a:xfrm>
            <a:off x="12517487" y="3098081"/>
            <a:ext cx="121235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2517487" y="3370436"/>
            <a:ext cx="121235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2517487" y="3098081"/>
            <a:ext cx="121235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2517487" y="3098081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3720316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1" name="Text 129"/>
          <p:cNvSpPr/>
          <p:nvPr/>
        </p:nvSpPr>
        <p:spPr>
          <a:xfrm>
            <a:off x="12641312" y="3164756"/>
            <a:ext cx="105995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Search</a:t>
            </a:r>
            <a:endParaRPr lang="en-US" sz="975" dirty="0"/>
          </a:p>
        </p:txBody>
      </p:sp>
      <p:sp>
        <p:nvSpPr>
          <p:cNvPr id="132" name="Shape 130"/>
          <p:cNvSpPr/>
          <p:nvPr/>
        </p:nvSpPr>
        <p:spPr>
          <a:xfrm>
            <a:off x="13786991" y="3098081"/>
            <a:ext cx="83998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3786991" y="3370436"/>
            <a:ext cx="83998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3786991" y="3098081"/>
            <a:ext cx="83998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3786991" y="3098081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4617452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7" name="Text 135"/>
          <p:cNvSpPr/>
          <p:nvPr/>
        </p:nvSpPr>
        <p:spPr>
          <a:xfrm>
            <a:off x="13910816" y="3164756"/>
            <a:ext cx="68758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Invitations</a:t>
            </a:r>
            <a:endParaRPr lang="en-US" sz="975" dirty="0"/>
          </a:p>
        </p:txBody>
      </p:sp>
      <p:sp>
        <p:nvSpPr>
          <p:cNvPr id="138" name="Shape 136"/>
          <p:cNvSpPr/>
          <p:nvPr/>
        </p:nvSpPr>
        <p:spPr>
          <a:xfrm>
            <a:off x="14684127" y="3098081"/>
            <a:ext cx="139682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4684127" y="3370436"/>
            <a:ext cx="139682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4684127" y="3098081"/>
            <a:ext cx="139682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4684127" y="3098081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6071428" y="3098081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3" name="Text 141"/>
          <p:cNvSpPr/>
          <p:nvPr/>
        </p:nvSpPr>
        <p:spPr>
          <a:xfrm>
            <a:off x="14807952" y="3164756"/>
            <a:ext cx="124442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Analytics</a:t>
            </a:r>
            <a:endParaRPr lang="en-US" sz="975" dirty="0"/>
          </a:p>
        </p:txBody>
      </p:sp>
      <p:sp>
        <p:nvSpPr>
          <p:cNvPr id="144" name="Shape 142"/>
          <p:cNvSpPr/>
          <p:nvPr/>
        </p:nvSpPr>
        <p:spPr>
          <a:xfrm>
            <a:off x="2619375" y="3611910"/>
            <a:ext cx="1378372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619375" y="3884265"/>
            <a:ext cx="137837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619375" y="3611910"/>
            <a:ext cx="137837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619375" y="3611910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988222" y="3611910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9" name="Text 147"/>
          <p:cNvSpPr/>
          <p:nvPr/>
        </p:nvSpPr>
        <p:spPr>
          <a:xfrm>
            <a:off x="2743200" y="3678585"/>
            <a:ext cx="122597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Peer Benchmarking</a:t>
            </a:r>
            <a:endParaRPr lang="en-US" sz="975" dirty="0"/>
          </a:p>
        </p:txBody>
      </p:sp>
      <p:sp>
        <p:nvSpPr>
          <p:cNvPr id="150" name="Shape 148"/>
          <p:cNvSpPr/>
          <p:nvPr/>
        </p:nvSpPr>
        <p:spPr>
          <a:xfrm>
            <a:off x="4054897" y="3611910"/>
            <a:ext cx="569044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159672" y="3678585"/>
            <a:ext cx="43569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Billing</a:t>
            </a:r>
            <a:endParaRPr lang="en-US" sz="975" dirty="0"/>
          </a:p>
        </p:txBody>
      </p:sp>
      <p:sp>
        <p:nvSpPr>
          <p:cNvPr id="152" name="Shape 150"/>
          <p:cNvSpPr/>
          <p:nvPr/>
        </p:nvSpPr>
        <p:spPr>
          <a:xfrm>
            <a:off x="771525" y="5056510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71525" y="4086002"/>
            <a:ext cx="1714500" cy="9705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54" name="Shape 152"/>
          <p:cNvSpPr/>
          <p:nvPr/>
        </p:nvSpPr>
        <p:spPr>
          <a:xfrm>
            <a:off x="2476500" y="4086002"/>
            <a:ext cx="9525" cy="9705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55" name="Text 153"/>
          <p:cNvSpPr/>
          <p:nvPr/>
        </p:nvSpPr>
        <p:spPr>
          <a:xfrm>
            <a:off x="942975" y="4219352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INTELLIGENCE</a:t>
            </a:r>
            <a:endParaRPr lang="en-US" sz="825" dirty="0"/>
          </a:p>
        </p:txBody>
      </p:sp>
      <p:sp>
        <p:nvSpPr>
          <p:cNvPr id="156" name="Text 154"/>
          <p:cNvSpPr/>
          <p:nvPr/>
        </p:nvSpPr>
        <p:spPr>
          <a:xfrm>
            <a:off x="942975" y="4386039"/>
            <a:ext cx="1438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/ ML Services</a:t>
            </a:r>
            <a:endParaRPr lang="en-US" sz="1275" dirty="0"/>
          </a:p>
        </p:txBody>
      </p:sp>
      <p:sp>
        <p:nvSpPr>
          <p:cNvPr id="157" name="Text 155"/>
          <p:cNvSpPr/>
          <p:nvPr/>
        </p:nvSpPr>
        <p:spPr>
          <a:xfrm>
            <a:off x="942975" y="4614639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gateway · prompt registry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619375" y="4430316"/>
            <a:ext cx="111226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619375" y="4702671"/>
            <a:ext cx="111226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619375" y="4430316"/>
            <a:ext cx="111226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619375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2" name="Shape 160"/>
          <p:cNvSpPr/>
          <p:nvPr/>
        </p:nvSpPr>
        <p:spPr>
          <a:xfrm>
            <a:off x="3722117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3" name="Text 161"/>
          <p:cNvSpPr/>
          <p:nvPr/>
        </p:nvSpPr>
        <p:spPr>
          <a:xfrm>
            <a:off x="2743200" y="4496991"/>
            <a:ext cx="95986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Parser</a:t>
            </a:r>
            <a:endParaRPr lang="en-US" sz="975" dirty="0"/>
          </a:p>
        </p:txBody>
      </p:sp>
      <p:sp>
        <p:nvSpPr>
          <p:cNvPr id="164" name="Shape 162"/>
          <p:cNvSpPr/>
          <p:nvPr/>
        </p:nvSpPr>
        <p:spPr>
          <a:xfrm>
            <a:off x="3788792" y="4430316"/>
            <a:ext cx="799728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788792" y="4702671"/>
            <a:ext cx="79972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3788792" y="4430316"/>
            <a:ext cx="79972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7" name="Shape 165"/>
          <p:cNvSpPr/>
          <p:nvPr/>
        </p:nvSpPr>
        <p:spPr>
          <a:xfrm>
            <a:off x="3788792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8" name="Shape 166"/>
          <p:cNvSpPr/>
          <p:nvPr/>
        </p:nvSpPr>
        <p:spPr>
          <a:xfrm>
            <a:off x="4578995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9" name="Text 167"/>
          <p:cNvSpPr/>
          <p:nvPr/>
        </p:nvSpPr>
        <p:spPr>
          <a:xfrm>
            <a:off x="3912617" y="4496991"/>
            <a:ext cx="64732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JD Parser</a:t>
            </a:r>
            <a:endParaRPr lang="en-US" sz="975" dirty="0"/>
          </a:p>
        </p:txBody>
      </p:sp>
      <p:sp>
        <p:nvSpPr>
          <p:cNvPr id="170" name="Shape 168"/>
          <p:cNvSpPr/>
          <p:nvPr/>
        </p:nvSpPr>
        <p:spPr>
          <a:xfrm>
            <a:off x="4645670" y="4430316"/>
            <a:ext cx="1188988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645670" y="4702671"/>
            <a:ext cx="118898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4645670" y="4430316"/>
            <a:ext cx="118898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645670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4" name="Shape 172"/>
          <p:cNvSpPr/>
          <p:nvPr/>
        </p:nvSpPr>
        <p:spPr>
          <a:xfrm>
            <a:off x="5825133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5" name="Text 173"/>
          <p:cNvSpPr/>
          <p:nvPr/>
        </p:nvSpPr>
        <p:spPr>
          <a:xfrm>
            <a:off x="4769495" y="4496991"/>
            <a:ext cx="1036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 Analyzer</a:t>
            </a:r>
            <a:endParaRPr lang="en-US" sz="975" dirty="0"/>
          </a:p>
        </p:txBody>
      </p:sp>
      <p:sp>
        <p:nvSpPr>
          <p:cNvPr id="176" name="Shape 174"/>
          <p:cNvSpPr/>
          <p:nvPr/>
        </p:nvSpPr>
        <p:spPr>
          <a:xfrm>
            <a:off x="5891808" y="4430316"/>
            <a:ext cx="110653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Shape 175"/>
          <p:cNvSpPr/>
          <p:nvPr/>
        </p:nvSpPr>
        <p:spPr>
          <a:xfrm>
            <a:off x="5891808" y="4702671"/>
            <a:ext cx="110653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5891808" y="4430316"/>
            <a:ext cx="110653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9" name="Shape 177"/>
          <p:cNvSpPr/>
          <p:nvPr/>
        </p:nvSpPr>
        <p:spPr>
          <a:xfrm>
            <a:off x="5891808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0" name="Shape 178"/>
          <p:cNvSpPr/>
          <p:nvPr/>
        </p:nvSpPr>
        <p:spPr>
          <a:xfrm>
            <a:off x="6988820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1" name="Text 179"/>
          <p:cNvSpPr/>
          <p:nvPr/>
        </p:nvSpPr>
        <p:spPr>
          <a:xfrm>
            <a:off x="6015633" y="4496991"/>
            <a:ext cx="95413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Skill Extraction</a:t>
            </a:r>
            <a:endParaRPr lang="en-US" sz="975" dirty="0"/>
          </a:p>
        </p:txBody>
      </p:sp>
      <p:sp>
        <p:nvSpPr>
          <p:cNvPr id="182" name="Shape 180"/>
          <p:cNvSpPr/>
          <p:nvPr/>
        </p:nvSpPr>
        <p:spPr>
          <a:xfrm>
            <a:off x="7055495" y="4430316"/>
            <a:ext cx="102877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055495" y="4702671"/>
            <a:ext cx="102877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4" name="Shape 182"/>
          <p:cNvSpPr/>
          <p:nvPr/>
        </p:nvSpPr>
        <p:spPr>
          <a:xfrm>
            <a:off x="7055495" y="4430316"/>
            <a:ext cx="102877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7055495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6" name="Shape 184"/>
          <p:cNvSpPr/>
          <p:nvPr/>
        </p:nvSpPr>
        <p:spPr>
          <a:xfrm>
            <a:off x="8074744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179320" y="4496991"/>
            <a:ext cx="87637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Engine</a:t>
            </a:r>
            <a:endParaRPr lang="en-US" sz="975" dirty="0"/>
          </a:p>
        </p:txBody>
      </p:sp>
      <p:sp>
        <p:nvSpPr>
          <p:cNvPr id="188" name="Shape 186"/>
          <p:cNvSpPr/>
          <p:nvPr/>
        </p:nvSpPr>
        <p:spPr>
          <a:xfrm>
            <a:off x="8141419" y="4430316"/>
            <a:ext cx="120223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9" name="Shape 187"/>
          <p:cNvSpPr/>
          <p:nvPr/>
        </p:nvSpPr>
        <p:spPr>
          <a:xfrm>
            <a:off x="8141419" y="4702671"/>
            <a:ext cx="120223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0" name="Shape 188"/>
          <p:cNvSpPr/>
          <p:nvPr/>
        </p:nvSpPr>
        <p:spPr>
          <a:xfrm>
            <a:off x="8141419" y="4430316"/>
            <a:ext cx="120223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1" name="Shape 189"/>
          <p:cNvSpPr/>
          <p:nvPr/>
        </p:nvSpPr>
        <p:spPr>
          <a:xfrm>
            <a:off x="8141419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334128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3" name="Text 191"/>
          <p:cNvSpPr/>
          <p:nvPr/>
        </p:nvSpPr>
        <p:spPr>
          <a:xfrm>
            <a:off x="8265244" y="4496991"/>
            <a:ext cx="104983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Skill-Gap Engine</a:t>
            </a:r>
            <a:endParaRPr lang="en-US" sz="975" dirty="0"/>
          </a:p>
        </p:txBody>
      </p:sp>
      <p:sp>
        <p:nvSpPr>
          <p:cNvPr id="194" name="Shape 192"/>
          <p:cNvSpPr/>
          <p:nvPr/>
        </p:nvSpPr>
        <p:spPr>
          <a:xfrm>
            <a:off x="9400803" y="4430316"/>
            <a:ext cx="125544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400803" y="4702671"/>
            <a:ext cx="125544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400803" y="4430316"/>
            <a:ext cx="125544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7" name="Shape 195"/>
          <p:cNvSpPr/>
          <p:nvPr/>
        </p:nvSpPr>
        <p:spPr>
          <a:xfrm>
            <a:off x="9400803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0646718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9" name="Text 197"/>
          <p:cNvSpPr/>
          <p:nvPr/>
        </p:nvSpPr>
        <p:spPr>
          <a:xfrm>
            <a:off x="9524628" y="4496991"/>
            <a:ext cx="110304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 Scorer</a:t>
            </a:r>
            <a:endParaRPr lang="en-US" sz="975" dirty="0"/>
          </a:p>
        </p:txBody>
      </p:sp>
      <p:sp>
        <p:nvSpPr>
          <p:cNvPr id="200" name="Shape 198"/>
          <p:cNvSpPr/>
          <p:nvPr/>
        </p:nvSpPr>
        <p:spPr>
          <a:xfrm>
            <a:off x="10713393" y="4430316"/>
            <a:ext cx="1379041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713393" y="4702671"/>
            <a:ext cx="1379041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0713393" y="4430316"/>
            <a:ext cx="1379041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0713393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2082909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5" name="Text 203"/>
          <p:cNvSpPr/>
          <p:nvPr/>
        </p:nvSpPr>
        <p:spPr>
          <a:xfrm>
            <a:off x="10837218" y="4496991"/>
            <a:ext cx="122664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Generation Pipeline</a:t>
            </a:r>
            <a:endParaRPr lang="en-US" sz="975" dirty="0"/>
          </a:p>
        </p:txBody>
      </p:sp>
      <p:sp>
        <p:nvSpPr>
          <p:cNvPr id="206" name="Shape 204"/>
          <p:cNvSpPr/>
          <p:nvPr/>
        </p:nvSpPr>
        <p:spPr>
          <a:xfrm>
            <a:off x="12149584" y="4430316"/>
            <a:ext cx="1204243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2149584" y="4702671"/>
            <a:ext cx="120424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2149584" y="4430316"/>
            <a:ext cx="120424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2149584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0" name="Shape 208"/>
          <p:cNvSpPr/>
          <p:nvPr/>
        </p:nvSpPr>
        <p:spPr>
          <a:xfrm>
            <a:off x="13344302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1" name="Text 209"/>
          <p:cNvSpPr/>
          <p:nvPr/>
        </p:nvSpPr>
        <p:spPr>
          <a:xfrm>
            <a:off x="12273409" y="4496991"/>
            <a:ext cx="10518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Interview Engine</a:t>
            </a:r>
            <a:endParaRPr lang="en-US" sz="975" dirty="0"/>
          </a:p>
        </p:txBody>
      </p:sp>
      <p:sp>
        <p:nvSpPr>
          <p:cNvPr id="212" name="Shape 210"/>
          <p:cNvSpPr/>
          <p:nvPr/>
        </p:nvSpPr>
        <p:spPr>
          <a:xfrm>
            <a:off x="13410977" y="4430316"/>
            <a:ext cx="1060549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3410977" y="4702671"/>
            <a:ext cx="106054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3410977" y="4430316"/>
            <a:ext cx="106054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3410977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4462001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7" name="Text 215"/>
          <p:cNvSpPr/>
          <p:nvPr/>
        </p:nvSpPr>
        <p:spPr>
          <a:xfrm>
            <a:off x="13534802" y="4496991"/>
            <a:ext cx="908149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 Search</a:t>
            </a:r>
            <a:endParaRPr lang="en-US" sz="975" dirty="0"/>
          </a:p>
        </p:txBody>
      </p:sp>
      <p:sp>
        <p:nvSpPr>
          <p:cNvPr id="218" name="Shape 216"/>
          <p:cNvSpPr/>
          <p:nvPr/>
        </p:nvSpPr>
        <p:spPr>
          <a:xfrm>
            <a:off x="14528676" y="4430316"/>
            <a:ext cx="124584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4528676" y="4702671"/>
            <a:ext cx="124584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4528676" y="4430316"/>
            <a:ext cx="124584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4528676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5764991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3" name="Text 221"/>
          <p:cNvSpPr/>
          <p:nvPr/>
        </p:nvSpPr>
        <p:spPr>
          <a:xfrm>
            <a:off x="14652501" y="4496991"/>
            <a:ext cx="109344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Safety Guardrails</a:t>
            </a:r>
            <a:endParaRPr lang="en-US" sz="975" dirty="0"/>
          </a:p>
        </p:txBody>
      </p:sp>
      <p:sp>
        <p:nvSpPr>
          <p:cNvPr id="224" name="Shape 222"/>
          <p:cNvSpPr/>
          <p:nvPr/>
        </p:nvSpPr>
        <p:spPr>
          <a:xfrm>
            <a:off x="15831666" y="4430316"/>
            <a:ext cx="98993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5831666" y="4702671"/>
            <a:ext cx="98993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5831666" y="4430316"/>
            <a:ext cx="98993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5831666" y="4430316"/>
            <a:ext cx="28575" cy="28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6812071" y="4430316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9" name="Text 227"/>
          <p:cNvSpPr/>
          <p:nvPr/>
        </p:nvSpPr>
        <p:spPr>
          <a:xfrm>
            <a:off x="15955491" y="4496991"/>
            <a:ext cx="83753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Eval Harness</a:t>
            </a:r>
            <a:endParaRPr lang="en-US" sz="975" dirty="0"/>
          </a:p>
        </p:txBody>
      </p:sp>
      <p:sp>
        <p:nvSpPr>
          <p:cNvPr id="230" name="Shape 228"/>
          <p:cNvSpPr/>
          <p:nvPr/>
        </p:nvSpPr>
        <p:spPr>
          <a:xfrm>
            <a:off x="771525" y="6072783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1" name="Shape 229"/>
          <p:cNvSpPr/>
          <p:nvPr/>
        </p:nvSpPr>
        <p:spPr>
          <a:xfrm>
            <a:off x="771525" y="5066035"/>
            <a:ext cx="1714500" cy="100674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232" name="Shape 230"/>
          <p:cNvSpPr/>
          <p:nvPr/>
        </p:nvSpPr>
        <p:spPr>
          <a:xfrm>
            <a:off x="2476500" y="5066035"/>
            <a:ext cx="9525" cy="100674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3" name="Text 231"/>
          <p:cNvSpPr/>
          <p:nvPr/>
        </p:nvSpPr>
        <p:spPr>
          <a:xfrm>
            <a:off x="942975" y="5199385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 · WORKFLOW</a:t>
            </a:r>
            <a:endParaRPr lang="en-US" sz="825" dirty="0"/>
          </a:p>
        </p:txBody>
      </p:sp>
      <p:sp>
        <p:nvSpPr>
          <p:cNvPr id="234" name="Text 232"/>
          <p:cNvSpPr/>
          <p:nvPr/>
        </p:nvSpPr>
        <p:spPr>
          <a:xfrm>
            <a:off x="942975" y="5366072"/>
            <a:ext cx="1438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Automation &amp; Jobs</a:t>
            </a:r>
            <a:endParaRPr lang="en-US" sz="1275" dirty="0"/>
          </a:p>
        </p:txBody>
      </p:sp>
      <p:sp>
        <p:nvSpPr>
          <p:cNvPr id="235" name="Text 233"/>
          <p:cNvSpPr/>
          <p:nvPr/>
        </p:nvSpPr>
        <p:spPr>
          <a:xfrm>
            <a:off x="942975" y="5785172"/>
            <a:ext cx="1438275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n8n · workers · cron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2619375" y="5428431"/>
            <a:ext cx="1044476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724150" y="5495106"/>
            <a:ext cx="91112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Discovery</a:t>
            </a:r>
            <a:endParaRPr lang="en-US" sz="975" dirty="0"/>
          </a:p>
        </p:txBody>
      </p:sp>
      <p:sp>
        <p:nvSpPr>
          <p:cNvPr id="238" name="Shape 236"/>
          <p:cNvSpPr/>
          <p:nvPr/>
        </p:nvSpPr>
        <p:spPr>
          <a:xfrm>
            <a:off x="3721001" y="5428431"/>
            <a:ext cx="1180877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3825776" y="5495106"/>
            <a:ext cx="104752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Pipeline</a:t>
            </a:r>
            <a:endParaRPr lang="en-US" sz="975" dirty="0"/>
          </a:p>
        </p:txBody>
      </p:sp>
      <p:sp>
        <p:nvSpPr>
          <p:cNvPr id="240" name="Shape 238"/>
          <p:cNvSpPr/>
          <p:nvPr/>
        </p:nvSpPr>
        <p:spPr>
          <a:xfrm>
            <a:off x="4959028" y="5428431"/>
            <a:ext cx="1004962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063803" y="5495106"/>
            <a:ext cx="87161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Email Digests</a:t>
            </a:r>
            <a:endParaRPr lang="en-US" sz="975" dirty="0"/>
          </a:p>
        </p:txBody>
      </p:sp>
      <p:sp>
        <p:nvSpPr>
          <p:cNvPr id="242" name="Shape 240"/>
          <p:cNvSpPr/>
          <p:nvPr/>
        </p:nvSpPr>
        <p:spPr>
          <a:xfrm>
            <a:off x="6021139" y="5428431"/>
            <a:ext cx="1170384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125914" y="5495106"/>
            <a:ext cx="103703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Invites</a:t>
            </a:r>
            <a:endParaRPr lang="en-US" sz="975" dirty="0"/>
          </a:p>
        </p:txBody>
      </p:sp>
      <p:sp>
        <p:nvSpPr>
          <p:cNvPr id="244" name="Shape 242"/>
          <p:cNvSpPr/>
          <p:nvPr/>
        </p:nvSpPr>
        <p:spPr>
          <a:xfrm>
            <a:off x="7248674" y="5428431"/>
            <a:ext cx="1230064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353449" y="5495106"/>
            <a:ext cx="109671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Progress Reports</a:t>
            </a:r>
            <a:endParaRPr lang="en-US" sz="975" dirty="0"/>
          </a:p>
        </p:txBody>
      </p:sp>
      <p:sp>
        <p:nvSpPr>
          <p:cNvPr id="246" name="Shape 244"/>
          <p:cNvSpPr/>
          <p:nvPr/>
        </p:nvSpPr>
        <p:spPr>
          <a:xfrm>
            <a:off x="8535888" y="5428431"/>
            <a:ext cx="1297930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8640663" y="5495106"/>
            <a:ext cx="116458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Reports</a:t>
            </a:r>
            <a:endParaRPr lang="en-US" sz="975" dirty="0"/>
          </a:p>
        </p:txBody>
      </p:sp>
      <p:sp>
        <p:nvSpPr>
          <p:cNvPr id="248" name="Shape 246"/>
          <p:cNvSpPr/>
          <p:nvPr/>
        </p:nvSpPr>
        <p:spPr>
          <a:xfrm>
            <a:off x="9890968" y="5428431"/>
            <a:ext cx="1250305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9995743" y="5495106"/>
            <a:ext cx="111695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Status Reminders</a:t>
            </a:r>
            <a:endParaRPr lang="en-US" sz="975" dirty="0"/>
          </a:p>
        </p:txBody>
      </p:sp>
      <p:sp>
        <p:nvSpPr>
          <p:cNvPr id="250" name="Shape 248"/>
          <p:cNvSpPr/>
          <p:nvPr/>
        </p:nvSpPr>
        <p:spPr>
          <a:xfrm>
            <a:off x="11198423" y="5428431"/>
            <a:ext cx="933301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1303198" y="5495106"/>
            <a:ext cx="79995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DLQ &amp; Retry</a:t>
            </a:r>
            <a:endParaRPr lang="en-US" sz="975" dirty="0"/>
          </a:p>
        </p:txBody>
      </p:sp>
      <p:sp>
        <p:nvSpPr>
          <p:cNvPr id="252" name="Shape 250"/>
          <p:cNvSpPr/>
          <p:nvPr/>
        </p:nvSpPr>
        <p:spPr>
          <a:xfrm>
            <a:off x="771525" y="7052816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71525" y="6082308"/>
            <a:ext cx="1714500" cy="9705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254" name="Shape 252"/>
          <p:cNvSpPr/>
          <p:nvPr/>
        </p:nvSpPr>
        <p:spPr>
          <a:xfrm>
            <a:off x="2476500" y="6082308"/>
            <a:ext cx="9525" cy="9705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55" name="Text 253"/>
          <p:cNvSpPr/>
          <p:nvPr/>
        </p:nvSpPr>
        <p:spPr>
          <a:xfrm>
            <a:off x="942975" y="6215658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L6 · DATA</a:t>
            </a:r>
            <a:endParaRPr lang="en-US" sz="825" dirty="0"/>
          </a:p>
        </p:txBody>
      </p:sp>
      <p:sp>
        <p:nvSpPr>
          <p:cNvPr id="256" name="Text 254"/>
          <p:cNvSpPr/>
          <p:nvPr/>
        </p:nvSpPr>
        <p:spPr>
          <a:xfrm>
            <a:off x="942975" y="6382345"/>
            <a:ext cx="1438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</a:t>
            </a:r>
            <a:endParaRPr lang="en-US" sz="1275" dirty="0"/>
          </a:p>
        </p:txBody>
      </p:sp>
      <p:sp>
        <p:nvSpPr>
          <p:cNvPr id="257" name="Text 255"/>
          <p:cNvSpPr/>
          <p:nvPr/>
        </p:nvSpPr>
        <p:spPr>
          <a:xfrm>
            <a:off x="942975" y="6610945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 · pgvector · audit ledger</a:t>
            </a:r>
            <a:endParaRPr lang="en-US" sz="900" dirty="0"/>
          </a:p>
        </p:txBody>
      </p:sp>
      <p:sp>
        <p:nvSpPr>
          <p:cNvPr id="258" name="Shape 256"/>
          <p:cNvSpPr/>
          <p:nvPr/>
        </p:nvSpPr>
        <p:spPr>
          <a:xfrm>
            <a:off x="2619375" y="6426622"/>
            <a:ext cx="1437308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9" name="Shape 257"/>
          <p:cNvSpPr/>
          <p:nvPr/>
        </p:nvSpPr>
        <p:spPr>
          <a:xfrm>
            <a:off x="2619375" y="6698977"/>
            <a:ext cx="143730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0" name="Shape 258"/>
          <p:cNvSpPr/>
          <p:nvPr/>
        </p:nvSpPr>
        <p:spPr>
          <a:xfrm>
            <a:off x="2619375" y="6426622"/>
            <a:ext cx="143730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1" name="Shape 259"/>
          <p:cNvSpPr/>
          <p:nvPr/>
        </p:nvSpPr>
        <p:spPr>
          <a:xfrm>
            <a:off x="2619375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2" name="Shape 260"/>
          <p:cNvSpPr/>
          <p:nvPr/>
        </p:nvSpPr>
        <p:spPr>
          <a:xfrm>
            <a:off x="4047158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3" name="Text 261"/>
          <p:cNvSpPr/>
          <p:nvPr/>
        </p:nvSpPr>
        <p:spPr>
          <a:xfrm>
            <a:off x="2743200" y="6493297"/>
            <a:ext cx="128490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 / Supabase</a:t>
            </a:r>
            <a:endParaRPr lang="en-US" sz="975" dirty="0"/>
          </a:p>
        </p:txBody>
      </p:sp>
      <p:sp>
        <p:nvSpPr>
          <p:cNvPr id="264" name="Shape 262"/>
          <p:cNvSpPr/>
          <p:nvPr/>
        </p:nvSpPr>
        <p:spPr>
          <a:xfrm>
            <a:off x="4113833" y="6426622"/>
            <a:ext cx="1479352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5" name="Shape 263"/>
          <p:cNvSpPr/>
          <p:nvPr/>
        </p:nvSpPr>
        <p:spPr>
          <a:xfrm>
            <a:off x="4113833" y="6698977"/>
            <a:ext cx="147935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6" name="Shape 264"/>
          <p:cNvSpPr/>
          <p:nvPr/>
        </p:nvSpPr>
        <p:spPr>
          <a:xfrm>
            <a:off x="4113833" y="6426622"/>
            <a:ext cx="147935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7" name="Shape 265"/>
          <p:cNvSpPr/>
          <p:nvPr/>
        </p:nvSpPr>
        <p:spPr>
          <a:xfrm>
            <a:off x="4113833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8" name="Shape 266"/>
          <p:cNvSpPr/>
          <p:nvPr/>
        </p:nvSpPr>
        <p:spPr>
          <a:xfrm>
            <a:off x="5583659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9" name="Text 267"/>
          <p:cNvSpPr/>
          <p:nvPr/>
        </p:nvSpPr>
        <p:spPr>
          <a:xfrm>
            <a:off x="4237658" y="6493297"/>
            <a:ext cx="132695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pgvector → Pinecone</a:t>
            </a:r>
            <a:endParaRPr lang="en-US" sz="975" dirty="0"/>
          </a:p>
        </p:txBody>
      </p:sp>
      <p:sp>
        <p:nvSpPr>
          <p:cNvPr id="270" name="Shape 268"/>
          <p:cNvSpPr/>
          <p:nvPr/>
        </p:nvSpPr>
        <p:spPr>
          <a:xfrm>
            <a:off x="5650334" y="6426622"/>
            <a:ext cx="1117625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1" name="Shape 269"/>
          <p:cNvSpPr/>
          <p:nvPr/>
        </p:nvSpPr>
        <p:spPr>
          <a:xfrm>
            <a:off x="5650334" y="6698977"/>
            <a:ext cx="111762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72" name="Shape 270"/>
          <p:cNvSpPr/>
          <p:nvPr/>
        </p:nvSpPr>
        <p:spPr>
          <a:xfrm>
            <a:off x="5650334" y="6426622"/>
            <a:ext cx="111762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73" name="Shape 271"/>
          <p:cNvSpPr/>
          <p:nvPr/>
        </p:nvSpPr>
        <p:spPr>
          <a:xfrm>
            <a:off x="5650334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6758434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75" name="Text 273"/>
          <p:cNvSpPr/>
          <p:nvPr/>
        </p:nvSpPr>
        <p:spPr>
          <a:xfrm>
            <a:off x="5774159" y="6493297"/>
            <a:ext cx="9652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 Storage</a:t>
            </a:r>
            <a:endParaRPr lang="en-US" sz="975" dirty="0"/>
          </a:p>
        </p:txBody>
      </p:sp>
      <p:sp>
        <p:nvSpPr>
          <p:cNvPr id="276" name="Shape 274"/>
          <p:cNvSpPr/>
          <p:nvPr/>
        </p:nvSpPr>
        <p:spPr>
          <a:xfrm>
            <a:off x="6825109" y="6426622"/>
            <a:ext cx="133900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7" name="Shape 275"/>
          <p:cNvSpPr/>
          <p:nvPr/>
        </p:nvSpPr>
        <p:spPr>
          <a:xfrm>
            <a:off x="6825109" y="6698977"/>
            <a:ext cx="133900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78" name="Shape 276"/>
          <p:cNvSpPr/>
          <p:nvPr/>
        </p:nvSpPr>
        <p:spPr>
          <a:xfrm>
            <a:off x="6825109" y="6426622"/>
            <a:ext cx="133900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79" name="Shape 277"/>
          <p:cNvSpPr/>
          <p:nvPr/>
        </p:nvSpPr>
        <p:spPr>
          <a:xfrm>
            <a:off x="6825109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0" name="Shape 278"/>
          <p:cNvSpPr/>
          <p:nvPr/>
        </p:nvSpPr>
        <p:spPr>
          <a:xfrm>
            <a:off x="8154591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1" name="Text 279"/>
          <p:cNvSpPr/>
          <p:nvPr/>
        </p:nvSpPr>
        <p:spPr>
          <a:xfrm>
            <a:off x="6948934" y="6493297"/>
            <a:ext cx="118660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Ledger</a:t>
            </a:r>
            <a:endParaRPr lang="en-US" sz="975" dirty="0"/>
          </a:p>
        </p:txBody>
      </p:sp>
      <p:sp>
        <p:nvSpPr>
          <p:cNvPr id="282" name="Shape 280"/>
          <p:cNvSpPr/>
          <p:nvPr/>
        </p:nvSpPr>
        <p:spPr>
          <a:xfrm>
            <a:off x="8221266" y="6426622"/>
            <a:ext cx="111494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3" name="Shape 281"/>
          <p:cNvSpPr/>
          <p:nvPr/>
        </p:nvSpPr>
        <p:spPr>
          <a:xfrm>
            <a:off x="8221266" y="6698977"/>
            <a:ext cx="111494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4" name="Shape 282"/>
          <p:cNvSpPr/>
          <p:nvPr/>
        </p:nvSpPr>
        <p:spPr>
          <a:xfrm>
            <a:off x="8221266" y="6426622"/>
            <a:ext cx="111494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5" name="Shape 283"/>
          <p:cNvSpPr/>
          <p:nvPr/>
        </p:nvSpPr>
        <p:spPr>
          <a:xfrm>
            <a:off x="8221266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6" name="Shape 284"/>
          <p:cNvSpPr/>
          <p:nvPr/>
        </p:nvSpPr>
        <p:spPr>
          <a:xfrm>
            <a:off x="9326687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7" name="Text 285"/>
          <p:cNvSpPr/>
          <p:nvPr/>
        </p:nvSpPr>
        <p:spPr>
          <a:xfrm>
            <a:off x="8345091" y="6493297"/>
            <a:ext cx="96254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 Store</a:t>
            </a:r>
            <a:endParaRPr lang="en-US" sz="975" dirty="0"/>
          </a:p>
        </p:txBody>
      </p:sp>
      <p:sp>
        <p:nvSpPr>
          <p:cNvPr id="288" name="Shape 286"/>
          <p:cNvSpPr/>
          <p:nvPr/>
        </p:nvSpPr>
        <p:spPr>
          <a:xfrm>
            <a:off x="9393362" y="6426622"/>
            <a:ext cx="93605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9" name="Shape 287"/>
          <p:cNvSpPr/>
          <p:nvPr/>
        </p:nvSpPr>
        <p:spPr>
          <a:xfrm>
            <a:off x="9393362" y="6698977"/>
            <a:ext cx="93605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393362" y="6426622"/>
            <a:ext cx="93605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393362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2" name="Shape 290"/>
          <p:cNvSpPr/>
          <p:nvPr/>
        </p:nvSpPr>
        <p:spPr>
          <a:xfrm>
            <a:off x="10319891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3" name="Text 291"/>
          <p:cNvSpPr/>
          <p:nvPr/>
        </p:nvSpPr>
        <p:spPr>
          <a:xfrm>
            <a:off x="9517187" y="6493297"/>
            <a:ext cx="78365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Catalog</a:t>
            </a:r>
            <a:endParaRPr lang="en-US" sz="975" dirty="0"/>
          </a:p>
        </p:txBody>
      </p:sp>
      <p:sp>
        <p:nvSpPr>
          <p:cNvPr id="294" name="Shape 292"/>
          <p:cNvSpPr/>
          <p:nvPr/>
        </p:nvSpPr>
        <p:spPr>
          <a:xfrm>
            <a:off x="10386566" y="6426622"/>
            <a:ext cx="143053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5" name="Shape 293"/>
          <p:cNvSpPr/>
          <p:nvPr/>
        </p:nvSpPr>
        <p:spPr>
          <a:xfrm>
            <a:off x="10386566" y="6698977"/>
            <a:ext cx="14305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0386566" y="6426622"/>
            <a:ext cx="14305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7" name="Shape 295"/>
          <p:cNvSpPr/>
          <p:nvPr/>
        </p:nvSpPr>
        <p:spPr>
          <a:xfrm>
            <a:off x="10386566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8" name="Shape 296"/>
          <p:cNvSpPr/>
          <p:nvPr/>
        </p:nvSpPr>
        <p:spPr>
          <a:xfrm>
            <a:off x="11807577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9" name="Text 297"/>
          <p:cNvSpPr/>
          <p:nvPr/>
        </p:nvSpPr>
        <p:spPr>
          <a:xfrm>
            <a:off x="10510391" y="6493297"/>
            <a:ext cx="127813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/ Company</a:t>
            </a:r>
            <a:endParaRPr lang="en-US" sz="975" dirty="0"/>
          </a:p>
        </p:txBody>
      </p:sp>
      <p:sp>
        <p:nvSpPr>
          <p:cNvPr id="300" name="Shape 298"/>
          <p:cNvSpPr/>
          <p:nvPr/>
        </p:nvSpPr>
        <p:spPr>
          <a:xfrm>
            <a:off x="11874252" y="6426622"/>
            <a:ext cx="1230883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1" name="Shape 299"/>
          <p:cNvSpPr/>
          <p:nvPr/>
        </p:nvSpPr>
        <p:spPr>
          <a:xfrm>
            <a:off x="11874252" y="6698977"/>
            <a:ext cx="123088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02" name="Shape 300"/>
          <p:cNvSpPr/>
          <p:nvPr/>
        </p:nvSpPr>
        <p:spPr>
          <a:xfrm>
            <a:off x="11874252" y="6426622"/>
            <a:ext cx="123088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03" name="Shape 301"/>
          <p:cNvSpPr/>
          <p:nvPr/>
        </p:nvSpPr>
        <p:spPr>
          <a:xfrm>
            <a:off x="11874252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4" name="Shape 302"/>
          <p:cNvSpPr/>
          <p:nvPr/>
        </p:nvSpPr>
        <p:spPr>
          <a:xfrm>
            <a:off x="13095610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05" name="Text 303"/>
          <p:cNvSpPr/>
          <p:nvPr/>
        </p:nvSpPr>
        <p:spPr>
          <a:xfrm>
            <a:off x="11998077" y="6493297"/>
            <a:ext cx="107848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Cubes</a:t>
            </a:r>
            <a:endParaRPr lang="en-US" sz="975" dirty="0"/>
          </a:p>
        </p:txBody>
      </p:sp>
      <p:sp>
        <p:nvSpPr>
          <p:cNvPr id="306" name="Shape 304"/>
          <p:cNvSpPr/>
          <p:nvPr/>
        </p:nvSpPr>
        <p:spPr>
          <a:xfrm>
            <a:off x="13162285" y="6426622"/>
            <a:ext cx="1238548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7" name="Shape 305"/>
          <p:cNvSpPr/>
          <p:nvPr/>
        </p:nvSpPr>
        <p:spPr>
          <a:xfrm>
            <a:off x="13162285" y="6698977"/>
            <a:ext cx="123854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08" name="Shape 306"/>
          <p:cNvSpPr/>
          <p:nvPr/>
        </p:nvSpPr>
        <p:spPr>
          <a:xfrm>
            <a:off x="13162285" y="6426622"/>
            <a:ext cx="123854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09" name="Shape 307"/>
          <p:cNvSpPr/>
          <p:nvPr/>
        </p:nvSpPr>
        <p:spPr>
          <a:xfrm>
            <a:off x="13162285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0" name="Shape 308"/>
          <p:cNvSpPr/>
          <p:nvPr/>
        </p:nvSpPr>
        <p:spPr>
          <a:xfrm>
            <a:off x="14391308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1" name="Text 309"/>
          <p:cNvSpPr/>
          <p:nvPr/>
        </p:nvSpPr>
        <p:spPr>
          <a:xfrm>
            <a:off x="13286110" y="6493297"/>
            <a:ext cx="108614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Consent Records</a:t>
            </a:r>
            <a:endParaRPr lang="en-US" sz="975" dirty="0"/>
          </a:p>
        </p:txBody>
      </p:sp>
      <p:sp>
        <p:nvSpPr>
          <p:cNvPr id="312" name="Shape 310"/>
          <p:cNvSpPr/>
          <p:nvPr/>
        </p:nvSpPr>
        <p:spPr>
          <a:xfrm>
            <a:off x="14457983" y="6426622"/>
            <a:ext cx="78923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3" name="Shape 311"/>
          <p:cNvSpPr/>
          <p:nvPr/>
        </p:nvSpPr>
        <p:spPr>
          <a:xfrm>
            <a:off x="14457983" y="6698977"/>
            <a:ext cx="7892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4" name="Shape 312"/>
          <p:cNvSpPr/>
          <p:nvPr/>
        </p:nvSpPr>
        <p:spPr>
          <a:xfrm>
            <a:off x="14457983" y="6426622"/>
            <a:ext cx="78923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5" name="Shape 313"/>
          <p:cNvSpPr/>
          <p:nvPr/>
        </p:nvSpPr>
        <p:spPr>
          <a:xfrm>
            <a:off x="14457983" y="6426622"/>
            <a:ext cx="28575" cy="28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6" name="Shape 314"/>
          <p:cNvSpPr/>
          <p:nvPr/>
        </p:nvSpPr>
        <p:spPr>
          <a:xfrm>
            <a:off x="15237693" y="6426622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7" name="Text 315"/>
          <p:cNvSpPr/>
          <p:nvPr/>
        </p:nvSpPr>
        <p:spPr>
          <a:xfrm>
            <a:off x="14581808" y="6493297"/>
            <a:ext cx="63683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 Log</a:t>
            </a:r>
            <a:endParaRPr lang="en-US" sz="975" dirty="0"/>
          </a:p>
        </p:txBody>
      </p:sp>
      <p:sp>
        <p:nvSpPr>
          <p:cNvPr id="318" name="Shape 316"/>
          <p:cNvSpPr/>
          <p:nvPr/>
        </p:nvSpPr>
        <p:spPr>
          <a:xfrm>
            <a:off x="771525" y="8223349"/>
            <a:ext cx="167449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19" name="Shape 317"/>
          <p:cNvSpPr/>
          <p:nvPr/>
        </p:nvSpPr>
        <p:spPr>
          <a:xfrm>
            <a:off x="771525" y="7062341"/>
            <a:ext cx="1714500" cy="11610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320" name="Shape 318"/>
          <p:cNvSpPr/>
          <p:nvPr/>
        </p:nvSpPr>
        <p:spPr>
          <a:xfrm>
            <a:off x="2476500" y="7062341"/>
            <a:ext cx="9525" cy="11610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21" name="Text 319"/>
          <p:cNvSpPr/>
          <p:nvPr/>
        </p:nvSpPr>
        <p:spPr>
          <a:xfrm>
            <a:off x="942975" y="7195691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L7 · PLATFORM</a:t>
            </a:r>
            <a:endParaRPr lang="en-US" sz="825" dirty="0"/>
          </a:p>
        </p:txBody>
      </p:sp>
      <p:sp>
        <p:nvSpPr>
          <p:cNvPr id="322" name="Text 320"/>
          <p:cNvSpPr/>
          <p:nvPr/>
        </p:nvSpPr>
        <p:spPr>
          <a:xfrm>
            <a:off x="942975" y="7362379"/>
            <a:ext cx="1438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Integrations &amp; Infra</a:t>
            </a:r>
            <a:endParaRPr lang="en-US" sz="1275" dirty="0"/>
          </a:p>
        </p:txBody>
      </p:sp>
      <p:sp>
        <p:nvSpPr>
          <p:cNvPr id="323" name="Text 321"/>
          <p:cNvSpPr/>
          <p:nvPr/>
        </p:nvSpPr>
        <p:spPr>
          <a:xfrm>
            <a:off x="942975" y="7781479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Vercel · Cloud Run · Docker · CI/CD</a:t>
            </a:r>
            <a:endParaRPr lang="en-US" sz="900" dirty="0"/>
          </a:p>
        </p:txBody>
      </p:sp>
      <p:sp>
        <p:nvSpPr>
          <p:cNvPr id="324" name="Shape 322"/>
          <p:cNvSpPr/>
          <p:nvPr/>
        </p:nvSpPr>
        <p:spPr>
          <a:xfrm>
            <a:off x="2619375" y="7501905"/>
            <a:ext cx="726207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2724150" y="7568580"/>
            <a:ext cx="59285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APIs</a:t>
            </a:r>
            <a:endParaRPr lang="en-US" sz="975" dirty="0"/>
          </a:p>
        </p:txBody>
      </p:sp>
      <p:sp>
        <p:nvSpPr>
          <p:cNvPr id="326" name="Shape 324"/>
          <p:cNvSpPr/>
          <p:nvPr/>
        </p:nvSpPr>
        <p:spPr>
          <a:xfrm>
            <a:off x="3402732" y="7501905"/>
            <a:ext cx="855018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3507507" y="7568580"/>
            <a:ext cx="72166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 API</a:t>
            </a:r>
            <a:endParaRPr lang="en-US" sz="975" dirty="0"/>
          </a:p>
        </p:txBody>
      </p:sp>
      <p:sp>
        <p:nvSpPr>
          <p:cNvPr id="328" name="Shape 326"/>
          <p:cNvSpPr/>
          <p:nvPr/>
        </p:nvSpPr>
        <p:spPr>
          <a:xfrm>
            <a:off x="4314899" y="7501905"/>
            <a:ext cx="757907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4419674" y="7568580"/>
            <a:ext cx="62455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APIs</a:t>
            </a:r>
            <a:endParaRPr lang="en-US" sz="975" dirty="0"/>
          </a:p>
        </p:txBody>
      </p:sp>
      <p:sp>
        <p:nvSpPr>
          <p:cNvPr id="330" name="Shape 328"/>
          <p:cNvSpPr/>
          <p:nvPr/>
        </p:nvSpPr>
        <p:spPr>
          <a:xfrm>
            <a:off x="5129957" y="7501905"/>
            <a:ext cx="1053331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234732" y="7568580"/>
            <a:ext cx="9199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Email Provider</a:t>
            </a:r>
            <a:endParaRPr lang="en-US" sz="975" dirty="0"/>
          </a:p>
        </p:txBody>
      </p:sp>
      <p:sp>
        <p:nvSpPr>
          <p:cNvPr id="332" name="Shape 330"/>
          <p:cNvSpPr/>
          <p:nvPr/>
        </p:nvSpPr>
        <p:spPr>
          <a:xfrm>
            <a:off x="6240438" y="7501905"/>
            <a:ext cx="563389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6345213" y="7568580"/>
            <a:ext cx="430039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Stripe</a:t>
            </a:r>
            <a:endParaRPr lang="en-US" sz="975" dirty="0"/>
          </a:p>
        </p:txBody>
      </p:sp>
      <p:sp>
        <p:nvSpPr>
          <p:cNvPr id="334" name="Shape 332"/>
          <p:cNvSpPr/>
          <p:nvPr/>
        </p:nvSpPr>
        <p:spPr>
          <a:xfrm>
            <a:off x="6860977" y="7501905"/>
            <a:ext cx="739304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6965752" y="7568580"/>
            <a:ext cx="60595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</a:t>
            </a:r>
            <a:endParaRPr lang="en-US" sz="975" dirty="0"/>
          </a:p>
        </p:txBody>
      </p:sp>
      <p:sp>
        <p:nvSpPr>
          <p:cNvPr id="336" name="Shape 334"/>
          <p:cNvSpPr/>
          <p:nvPr/>
        </p:nvSpPr>
        <p:spPr>
          <a:xfrm>
            <a:off x="7657430" y="7501905"/>
            <a:ext cx="616521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7762205" y="7568580"/>
            <a:ext cx="48317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 / CD</a:t>
            </a:r>
            <a:endParaRPr lang="en-US" sz="975" dirty="0"/>
          </a:p>
        </p:txBody>
      </p:sp>
      <p:sp>
        <p:nvSpPr>
          <p:cNvPr id="338" name="Shape 336"/>
          <p:cNvSpPr/>
          <p:nvPr/>
        </p:nvSpPr>
        <p:spPr>
          <a:xfrm>
            <a:off x="8331101" y="7501905"/>
            <a:ext cx="668834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8435876" y="7568580"/>
            <a:ext cx="53548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Hosting</a:t>
            </a:r>
            <a:endParaRPr lang="en-US" sz="975" dirty="0"/>
          </a:p>
        </p:txBody>
      </p:sp>
      <p:sp>
        <p:nvSpPr>
          <p:cNvPr id="340" name="Shape 338"/>
          <p:cNvSpPr/>
          <p:nvPr/>
        </p:nvSpPr>
        <p:spPr>
          <a:xfrm>
            <a:off x="9057084" y="7501905"/>
            <a:ext cx="990600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9161859" y="7568580"/>
            <a:ext cx="85725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342" name="Shape 340"/>
          <p:cNvSpPr/>
          <p:nvPr/>
        </p:nvSpPr>
        <p:spPr>
          <a:xfrm>
            <a:off x="10104834" y="7501905"/>
            <a:ext cx="659606" cy="28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0209609" y="7568580"/>
            <a:ext cx="52625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Secrets</a:t>
            </a:r>
            <a:endParaRPr lang="en-US" sz="975" dirty="0"/>
          </a:p>
        </p:txBody>
      </p:sp>
      <p:sp>
        <p:nvSpPr>
          <p:cNvPr id="344" name="Shape 342"/>
          <p:cNvSpPr/>
          <p:nvPr/>
        </p:nvSpPr>
        <p:spPr>
          <a:xfrm>
            <a:off x="771525" y="8232874"/>
            <a:ext cx="1714500" cy="116100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345" name="Shape 343"/>
          <p:cNvSpPr/>
          <p:nvPr/>
        </p:nvSpPr>
        <p:spPr>
          <a:xfrm>
            <a:off x="2476500" y="8232874"/>
            <a:ext cx="9525" cy="1161008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46" name="Text 344"/>
          <p:cNvSpPr/>
          <p:nvPr/>
        </p:nvSpPr>
        <p:spPr>
          <a:xfrm>
            <a:off x="942975" y="8366224"/>
            <a:ext cx="14382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L8 · GOVERNANCE</a:t>
            </a:r>
            <a:endParaRPr lang="en-US" sz="825" dirty="0"/>
          </a:p>
        </p:txBody>
      </p:sp>
      <p:sp>
        <p:nvSpPr>
          <p:cNvPr id="347" name="Text 345"/>
          <p:cNvSpPr/>
          <p:nvPr/>
        </p:nvSpPr>
        <p:spPr>
          <a:xfrm>
            <a:off x="942975" y="8532912"/>
            <a:ext cx="1438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 &amp; Compliance</a:t>
            </a:r>
            <a:endParaRPr lang="en-US" sz="1275" dirty="0"/>
          </a:p>
        </p:txBody>
      </p:sp>
      <p:sp>
        <p:nvSpPr>
          <p:cNvPr id="348" name="Text 346"/>
          <p:cNvSpPr/>
          <p:nvPr/>
        </p:nvSpPr>
        <p:spPr>
          <a:xfrm>
            <a:off x="942975" y="8952012"/>
            <a:ext cx="14382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RBAC · consent · FERPA-aware</a:t>
            </a:r>
            <a:endParaRPr lang="en-US" sz="900" dirty="0"/>
          </a:p>
        </p:txBody>
      </p:sp>
      <p:sp>
        <p:nvSpPr>
          <p:cNvPr id="349" name="Shape 347"/>
          <p:cNvSpPr/>
          <p:nvPr/>
        </p:nvSpPr>
        <p:spPr>
          <a:xfrm>
            <a:off x="2619375" y="8672438"/>
            <a:ext cx="1189658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0" name="Shape 348"/>
          <p:cNvSpPr/>
          <p:nvPr/>
        </p:nvSpPr>
        <p:spPr>
          <a:xfrm>
            <a:off x="2619375" y="8944794"/>
            <a:ext cx="118965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1" name="Shape 349"/>
          <p:cNvSpPr/>
          <p:nvPr/>
        </p:nvSpPr>
        <p:spPr>
          <a:xfrm>
            <a:off x="2619375" y="8672438"/>
            <a:ext cx="1189658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2" name="Shape 350"/>
          <p:cNvSpPr/>
          <p:nvPr/>
        </p:nvSpPr>
        <p:spPr>
          <a:xfrm>
            <a:off x="2619375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53" name="Shape 351"/>
          <p:cNvSpPr/>
          <p:nvPr/>
        </p:nvSpPr>
        <p:spPr>
          <a:xfrm>
            <a:off x="3799508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4" name="Text 352"/>
          <p:cNvSpPr/>
          <p:nvPr/>
        </p:nvSpPr>
        <p:spPr>
          <a:xfrm>
            <a:off x="2743200" y="8739113"/>
            <a:ext cx="103725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.edu Verification</a:t>
            </a:r>
            <a:endParaRPr lang="en-US" sz="975" dirty="0"/>
          </a:p>
        </p:txBody>
      </p:sp>
      <p:sp>
        <p:nvSpPr>
          <p:cNvPr id="355" name="Shape 353"/>
          <p:cNvSpPr/>
          <p:nvPr/>
        </p:nvSpPr>
        <p:spPr>
          <a:xfrm>
            <a:off x="3866183" y="8672438"/>
            <a:ext cx="114597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6" name="Shape 354"/>
          <p:cNvSpPr/>
          <p:nvPr/>
        </p:nvSpPr>
        <p:spPr>
          <a:xfrm>
            <a:off x="3866183" y="8944794"/>
            <a:ext cx="114597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7" name="Shape 355"/>
          <p:cNvSpPr/>
          <p:nvPr/>
        </p:nvSpPr>
        <p:spPr>
          <a:xfrm>
            <a:off x="3866183" y="8672438"/>
            <a:ext cx="114597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8" name="Shape 356"/>
          <p:cNvSpPr/>
          <p:nvPr/>
        </p:nvSpPr>
        <p:spPr>
          <a:xfrm>
            <a:off x="3866183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59" name="Shape 357"/>
          <p:cNvSpPr/>
          <p:nvPr/>
        </p:nvSpPr>
        <p:spPr>
          <a:xfrm>
            <a:off x="5002634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0" name="Text 358"/>
          <p:cNvSpPr/>
          <p:nvPr/>
        </p:nvSpPr>
        <p:spPr>
          <a:xfrm>
            <a:off x="3990008" y="8739113"/>
            <a:ext cx="99357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Verify</a:t>
            </a:r>
            <a:endParaRPr lang="en-US" sz="975" dirty="0"/>
          </a:p>
        </p:txBody>
      </p:sp>
      <p:sp>
        <p:nvSpPr>
          <p:cNvPr id="361" name="Shape 359"/>
          <p:cNvSpPr/>
          <p:nvPr/>
        </p:nvSpPr>
        <p:spPr>
          <a:xfrm>
            <a:off x="5069309" y="8672438"/>
            <a:ext cx="562570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2" name="Shape 360"/>
          <p:cNvSpPr/>
          <p:nvPr/>
        </p:nvSpPr>
        <p:spPr>
          <a:xfrm>
            <a:off x="5069309" y="8944794"/>
            <a:ext cx="56257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3" name="Shape 361"/>
          <p:cNvSpPr/>
          <p:nvPr/>
        </p:nvSpPr>
        <p:spPr>
          <a:xfrm>
            <a:off x="5069309" y="8672438"/>
            <a:ext cx="56257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4" name="Shape 362"/>
          <p:cNvSpPr/>
          <p:nvPr/>
        </p:nvSpPr>
        <p:spPr>
          <a:xfrm>
            <a:off x="5069309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65" name="Shape 363"/>
          <p:cNvSpPr/>
          <p:nvPr/>
        </p:nvSpPr>
        <p:spPr>
          <a:xfrm>
            <a:off x="5622354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6" name="Text 364"/>
          <p:cNvSpPr/>
          <p:nvPr/>
        </p:nvSpPr>
        <p:spPr>
          <a:xfrm>
            <a:off x="5193134" y="8739113"/>
            <a:ext cx="41017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RBAC</a:t>
            </a:r>
            <a:endParaRPr lang="en-US" sz="975" dirty="0"/>
          </a:p>
        </p:txBody>
      </p:sp>
      <p:sp>
        <p:nvSpPr>
          <p:cNvPr id="367" name="Shape 365"/>
          <p:cNvSpPr/>
          <p:nvPr/>
        </p:nvSpPr>
        <p:spPr>
          <a:xfrm>
            <a:off x="5689029" y="8672438"/>
            <a:ext cx="1271067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8" name="Shape 366"/>
          <p:cNvSpPr/>
          <p:nvPr/>
        </p:nvSpPr>
        <p:spPr>
          <a:xfrm>
            <a:off x="5689029" y="8944794"/>
            <a:ext cx="127106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9" name="Shape 367"/>
          <p:cNvSpPr/>
          <p:nvPr/>
        </p:nvSpPr>
        <p:spPr>
          <a:xfrm>
            <a:off x="5689029" y="8672438"/>
            <a:ext cx="1271067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0" name="Shape 368"/>
          <p:cNvSpPr/>
          <p:nvPr/>
        </p:nvSpPr>
        <p:spPr>
          <a:xfrm>
            <a:off x="5689029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71" name="Shape 369"/>
          <p:cNvSpPr/>
          <p:nvPr/>
        </p:nvSpPr>
        <p:spPr>
          <a:xfrm>
            <a:off x="6950571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2" name="Text 370"/>
          <p:cNvSpPr/>
          <p:nvPr/>
        </p:nvSpPr>
        <p:spPr>
          <a:xfrm>
            <a:off x="5812854" y="8739113"/>
            <a:ext cx="1118667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Consent Manager</a:t>
            </a:r>
            <a:endParaRPr lang="en-US" sz="975" dirty="0"/>
          </a:p>
        </p:txBody>
      </p:sp>
      <p:sp>
        <p:nvSpPr>
          <p:cNvPr id="373" name="Shape 371"/>
          <p:cNvSpPr/>
          <p:nvPr/>
        </p:nvSpPr>
        <p:spPr>
          <a:xfrm>
            <a:off x="7017246" y="8672438"/>
            <a:ext cx="709613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4" name="Shape 372"/>
          <p:cNvSpPr/>
          <p:nvPr/>
        </p:nvSpPr>
        <p:spPr>
          <a:xfrm>
            <a:off x="7017246" y="8944794"/>
            <a:ext cx="70961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5" name="Shape 373"/>
          <p:cNvSpPr/>
          <p:nvPr/>
        </p:nvSpPr>
        <p:spPr>
          <a:xfrm>
            <a:off x="7017246" y="8672438"/>
            <a:ext cx="709613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6" name="Shape 374"/>
          <p:cNvSpPr/>
          <p:nvPr/>
        </p:nvSpPr>
        <p:spPr>
          <a:xfrm>
            <a:off x="7017246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77" name="Shape 375"/>
          <p:cNvSpPr/>
          <p:nvPr/>
        </p:nvSpPr>
        <p:spPr>
          <a:xfrm>
            <a:off x="7717334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78" name="Text 376"/>
          <p:cNvSpPr/>
          <p:nvPr/>
        </p:nvSpPr>
        <p:spPr>
          <a:xfrm>
            <a:off x="7141071" y="8739113"/>
            <a:ext cx="55721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PII Vault</a:t>
            </a:r>
            <a:endParaRPr lang="en-US" sz="975" dirty="0"/>
          </a:p>
        </p:txBody>
      </p:sp>
      <p:sp>
        <p:nvSpPr>
          <p:cNvPr id="379" name="Shape 377"/>
          <p:cNvSpPr/>
          <p:nvPr/>
        </p:nvSpPr>
        <p:spPr>
          <a:xfrm>
            <a:off x="7784009" y="8672438"/>
            <a:ext cx="110281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0" name="Shape 378"/>
          <p:cNvSpPr/>
          <p:nvPr/>
        </p:nvSpPr>
        <p:spPr>
          <a:xfrm>
            <a:off x="7784009" y="8944794"/>
            <a:ext cx="110281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1" name="Shape 379"/>
          <p:cNvSpPr/>
          <p:nvPr/>
        </p:nvSpPr>
        <p:spPr>
          <a:xfrm>
            <a:off x="7784009" y="8672438"/>
            <a:ext cx="110281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2" name="Shape 380"/>
          <p:cNvSpPr/>
          <p:nvPr/>
        </p:nvSpPr>
        <p:spPr>
          <a:xfrm>
            <a:off x="7784009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83" name="Shape 381"/>
          <p:cNvSpPr/>
          <p:nvPr/>
        </p:nvSpPr>
        <p:spPr>
          <a:xfrm>
            <a:off x="8877300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4" name="Text 382"/>
          <p:cNvSpPr/>
          <p:nvPr/>
        </p:nvSpPr>
        <p:spPr>
          <a:xfrm>
            <a:off x="7907834" y="8739113"/>
            <a:ext cx="95041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Anonymization</a:t>
            </a:r>
            <a:endParaRPr lang="en-US" sz="975" dirty="0"/>
          </a:p>
        </p:txBody>
      </p:sp>
      <p:sp>
        <p:nvSpPr>
          <p:cNvPr id="385" name="Shape 383"/>
          <p:cNvSpPr/>
          <p:nvPr/>
        </p:nvSpPr>
        <p:spPr>
          <a:xfrm>
            <a:off x="8943975" y="8672438"/>
            <a:ext cx="823466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6" name="Shape 384"/>
          <p:cNvSpPr/>
          <p:nvPr/>
        </p:nvSpPr>
        <p:spPr>
          <a:xfrm>
            <a:off x="8943975" y="8944794"/>
            <a:ext cx="82346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7" name="Shape 385"/>
          <p:cNvSpPr/>
          <p:nvPr/>
        </p:nvSpPr>
        <p:spPr>
          <a:xfrm>
            <a:off x="8943975" y="8672438"/>
            <a:ext cx="823466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8" name="Shape 386"/>
          <p:cNvSpPr/>
          <p:nvPr/>
        </p:nvSpPr>
        <p:spPr>
          <a:xfrm>
            <a:off x="8943975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89" name="Shape 387"/>
          <p:cNvSpPr/>
          <p:nvPr/>
        </p:nvSpPr>
        <p:spPr>
          <a:xfrm>
            <a:off x="9757916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90" name="Text 388"/>
          <p:cNvSpPr/>
          <p:nvPr/>
        </p:nvSpPr>
        <p:spPr>
          <a:xfrm>
            <a:off x="9067800" y="8739113"/>
            <a:ext cx="671066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 Trail</a:t>
            </a:r>
            <a:endParaRPr lang="en-US" sz="975" dirty="0"/>
          </a:p>
        </p:txBody>
      </p:sp>
      <p:sp>
        <p:nvSpPr>
          <p:cNvPr id="391" name="Shape 389"/>
          <p:cNvSpPr/>
          <p:nvPr/>
        </p:nvSpPr>
        <p:spPr>
          <a:xfrm>
            <a:off x="9824591" y="8672438"/>
            <a:ext cx="794742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2" name="Shape 390"/>
          <p:cNvSpPr/>
          <p:nvPr/>
        </p:nvSpPr>
        <p:spPr>
          <a:xfrm>
            <a:off x="9824591" y="8944794"/>
            <a:ext cx="79474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93" name="Shape 391"/>
          <p:cNvSpPr/>
          <p:nvPr/>
        </p:nvSpPr>
        <p:spPr>
          <a:xfrm>
            <a:off x="9824591" y="8672438"/>
            <a:ext cx="794742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94" name="Shape 392"/>
          <p:cNvSpPr/>
          <p:nvPr/>
        </p:nvSpPr>
        <p:spPr>
          <a:xfrm>
            <a:off x="9824591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95" name="Shape 393"/>
          <p:cNvSpPr/>
          <p:nvPr/>
        </p:nvSpPr>
        <p:spPr>
          <a:xfrm>
            <a:off x="10609808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96" name="Text 394"/>
          <p:cNvSpPr/>
          <p:nvPr/>
        </p:nvSpPr>
        <p:spPr>
          <a:xfrm>
            <a:off x="9948416" y="8739113"/>
            <a:ext cx="64234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Retention</a:t>
            </a:r>
            <a:endParaRPr lang="en-US" sz="975" dirty="0"/>
          </a:p>
        </p:txBody>
      </p:sp>
      <p:sp>
        <p:nvSpPr>
          <p:cNvPr id="397" name="Shape 395"/>
          <p:cNvSpPr/>
          <p:nvPr/>
        </p:nvSpPr>
        <p:spPr>
          <a:xfrm>
            <a:off x="10676483" y="8672438"/>
            <a:ext cx="1023789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8" name="Shape 396"/>
          <p:cNvSpPr/>
          <p:nvPr/>
        </p:nvSpPr>
        <p:spPr>
          <a:xfrm>
            <a:off x="10676483" y="8944794"/>
            <a:ext cx="102378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99" name="Shape 397"/>
          <p:cNvSpPr/>
          <p:nvPr/>
        </p:nvSpPr>
        <p:spPr>
          <a:xfrm>
            <a:off x="10676483" y="8672438"/>
            <a:ext cx="1023789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00" name="Shape 398"/>
          <p:cNvSpPr/>
          <p:nvPr/>
        </p:nvSpPr>
        <p:spPr>
          <a:xfrm>
            <a:off x="10676483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401" name="Shape 399"/>
          <p:cNvSpPr/>
          <p:nvPr/>
        </p:nvSpPr>
        <p:spPr>
          <a:xfrm>
            <a:off x="11690747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02" name="Text 400"/>
          <p:cNvSpPr/>
          <p:nvPr/>
        </p:nvSpPr>
        <p:spPr>
          <a:xfrm>
            <a:off x="10800308" y="8739113"/>
            <a:ext cx="871389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Rate &amp; Abuse</a:t>
            </a:r>
            <a:endParaRPr lang="en-US" sz="975" dirty="0"/>
          </a:p>
        </p:txBody>
      </p:sp>
      <p:sp>
        <p:nvSpPr>
          <p:cNvPr id="403" name="Shape 401"/>
          <p:cNvSpPr/>
          <p:nvPr/>
        </p:nvSpPr>
        <p:spPr>
          <a:xfrm>
            <a:off x="11757422" y="8672438"/>
            <a:ext cx="1102444" cy="28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4" name="Shape 402"/>
          <p:cNvSpPr/>
          <p:nvPr/>
        </p:nvSpPr>
        <p:spPr>
          <a:xfrm>
            <a:off x="11757422" y="8944794"/>
            <a:ext cx="110244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05" name="Shape 403"/>
          <p:cNvSpPr/>
          <p:nvPr/>
        </p:nvSpPr>
        <p:spPr>
          <a:xfrm>
            <a:off x="11757422" y="8672438"/>
            <a:ext cx="1102444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06" name="Shape 404"/>
          <p:cNvSpPr/>
          <p:nvPr/>
        </p:nvSpPr>
        <p:spPr>
          <a:xfrm>
            <a:off x="11757422" y="8672438"/>
            <a:ext cx="28575" cy="2818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407" name="Shape 405"/>
          <p:cNvSpPr/>
          <p:nvPr/>
        </p:nvSpPr>
        <p:spPr>
          <a:xfrm>
            <a:off x="12850341" y="8672438"/>
            <a:ext cx="9525" cy="281880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08" name="Text 406"/>
          <p:cNvSpPr/>
          <p:nvPr/>
        </p:nvSpPr>
        <p:spPr>
          <a:xfrm>
            <a:off x="11881247" y="8739113"/>
            <a:ext cx="950044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FERPA Posture</a:t>
            </a:r>
            <a:endParaRPr lang="en-US" sz="975" dirty="0"/>
          </a:p>
        </p:txBody>
      </p:sp>
      <p:sp>
        <p:nvSpPr>
          <p:cNvPr id="409" name="Shape 407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0" name="Text 408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411" name="Text 409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46853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 &amp; AI WORKFLOW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114365" y="614363"/>
            <a:ext cx="148783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 LOOP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 → AI → storage → surface → outcome → loop.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 canonical pipeline. Every model has a prompt-registry version, an offline eval set, and a learning loop fed by real outcomes.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97435"/>
            <a:ext cx="268285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4307160"/>
            <a:ext cx="26828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697435"/>
            <a:ext cx="2682850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5325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" y="2945085"/>
            <a:ext cx="2320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INPUT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81075" y="3168923"/>
            <a:ext cx="232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inputs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1075" y="3473723"/>
            <a:ext cx="2320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PDF · JD · GitHub · transcript · profile · target roles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78200" y="2697435"/>
            <a:ext cx="268285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78200" y="4307160"/>
            <a:ext cx="26828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78200" y="2697435"/>
            <a:ext cx="268285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3578200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1525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2" name="Text 20"/>
          <p:cNvSpPr/>
          <p:nvPr/>
        </p:nvSpPr>
        <p:spPr>
          <a:xfrm>
            <a:off x="3797275" y="2945085"/>
            <a:ext cx="2320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797275" y="3168923"/>
            <a:ext cx="232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97275" y="3473723"/>
            <a:ext cx="2320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Parsers · embeddings · match · gen · readiness · safety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94400" y="2697435"/>
            <a:ext cx="268285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394400" y="4307160"/>
            <a:ext cx="26828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4400" y="2697435"/>
            <a:ext cx="268285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4400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9" name="Shape 27"/>
          <p:cNvSpPr/>
          <p:nvPr/>
        </p:nvSpPr>
        <p:spPr>
          <a:xfrm>
            <a:off x="9067726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0" name="Text 28"/>
          <p:cNvSpPr/>
          <p:nvPr/>
        </p:nvSpPr>
        <p:spPr>
          <a:xfrm>
            <a:off x="6613475" y="2945085"/>
            <a:ext cx="2320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STORE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613475" y="3168923"/>
            <a:ext cx="232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3475" y="3473723"/>
            <a:ext cx="2320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 · pgvector · object · evidence ledger · outcomes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10601" y="2697435"/>
            <a:ext cx="2682925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210601" y="4307160"/>
            <a:ext cx="268292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5" name="Shape 33"/>
          <p:cNvSpPr/>
          <p:nvPr/>
        </p:nvSpPr>
        <p:spPr>
          <a:xfrm>
            <a:off x="9210601" y="2697435"/>
            <a:ext cx="2682925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6" name="Shape 34"/>
          <p:cNvSpPr/>
          <p:nvPr/>
        </p:nvSpPr>
        <p:spPr>
          <a:xfrm>
            <a:off x="9210601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84000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8" name="Text 36"/>
          <p:cNvSpPr/>
          <p:nvPr/>
        </p:nvSpPr>
        <p:spPr>
          <a:xfrm>
            <a:off x="9429676" y="2945085"/>
            <a:ext cx="23209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SURFACE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429676" y="3168923"/>
            <a:ext cx="2320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queue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429676" y="3473723"/>
            <a:ext cx="2320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· resume · cover letter · gaps · projects · interview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2026875" y="2697435"/>
            <a:ext cx="268285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26875" y="4307160"/>
            <a:ext cx="26828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26875" y="2697435"/>
            <a:ext cx="2682850" cy="381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26875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5" name="Shape 43"/>
          <p:cNvSpPr/>
          <p:nvPr/>
        </p:nvSpPr>
        <p:spPr>
          <a:xfrm>
            <a:off x="14700200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6" name="Text 44"/>
          <p:cNvSpPr/>
          <p:nvPr/>
        </p:nvSpPr>
        <p:spPr>
          <a:xfrm>
            <a:off x="12245950" y="2945085"/>
            <a:ext cx="2320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OUTCOME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2245950" y="3168923"/>
            <a:ext cx="232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Apply &amp; track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245950" y="3473723"/>
            <a:ext cx="2320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Status · interview · offer · rejection · notes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4843075" y="2697435"/>
            <a:ext cx="268285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4843075" y="4307160"/>
            <a:ext cx="26828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1" name="Shape 49"/>
          <p:cNvSpPr/>
          <p:nvPr/>
        </p:nvSpPr>
        <p:spPr>
          <a:xfrm>
            <a:off x="14843075" y="2697435"/>
            <a:ext cx="2682850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14843075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6401" y="2697435"/>
            <a:ext cx="9525" cy="161925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4" name="Text 52"/>
          <p:cNvSpPr/>
          <p:nvPr/>
        </p:nvSpPr>
        <p:spPr>
          <a:xfrm>
            <a:off x="15062150" y="2945085"/>
            <a:ext cx="2320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LOOP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5062150" y="3168923"/>
            <a:ext cx="2320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-1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Learning loop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5062150" y="3473723"/>
            <a:ext cx="2320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Outcomes feed re-ranker · scorer · generation · project recs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62000" y="4507185"/>
            <a:ext cx="16764000" cy="148389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9175" y="4726260"/>
            <a:ext cx="1673713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/ ML WORKFLOW · MODEL GATEWAY VIEW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1019175" y="5026298"/>
            <a:ext cx="2612975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60" name="Shape 58"/>
          <p:cNvSpPr/>
          <p:nvPr/>
        </p:nvSpPr>
        <p:spPr>
          <a:xfrm>
            <a:off x="1019175" y="5762476"/>
            <a:ext cx="261297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9175" y="5026298"/>
            <a:ext cx="261297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9175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Shape 61"/>
          <p:cNvSpPr/>
          <p:nvPr/>
        </p:nvSpPr>
        <p:spPr>
          <a:xfrm>
            <a:off x="3622625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4" name="Text 62"/>
          <p:cNvSpPr/>
          <p:nvPr/>
        </p:nvSpPr>
        <p:spPr>
          <a:xfrm>
            <a:off x="1162050" y="5131073"/>
            <a:ext cx="2422475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INGEST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1162050" y="5325368"/>
            <a:ext cx="2120205" cy="368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/ JD / Transcript / GitHub parsers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746450" y="5026298"/>
            <a:ext cx="2613050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67" name="Shape 65"/>
          <p:cNvSpPr/>
          <p:nvPr/>
        </p:nvSpPr>
        <p:spPr>
          <a:xfrm>
            <a:off x="3746450" y="5762476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8" name="Shape 66"/>
          <p:cNvSpPr/>
          <p:nvPr/>
        </p:nvSpPr>
        <p:spPr>
          <a:xfrm>
            <a:off x="3746450" y="5026298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9" name="Shape 67"/>
          <p:cNvSpPr/>
          <p:nvPr/>
        </p:nvSpPr>
        <p:spPr>
          <a:xfrm>
            <a:off x="3746450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0" name="Shape 68"/>
          <p:cNvSpPr/>
          <p:nvPr/>
        </p:nvSpPr>
        <p:spPr>
          <a:xfrm>
            <a:off x="6349975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1" name="Text 69"/>
          <p:cNvSpPr/>
          <p:nvPr/>
        </p:nvSpPr>
        <p:spPr>
          <a:xfrm>
            <a:off x="3889325" y="5131073"/>
            <a:ext cx="24225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 · EMBED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3889325" y="5325368"/>
            <a:ext cx="1920106" cy="368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Embeddings &amp; vector search · pgvector → Pinecone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473800" y="5026298"/>
            <a:ext cx="2613050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74" name="Shape 72"/>
          <p:cNvSpPr/>
          <p:nvPr/>
        </p:nvSpPr>
        <p:spPr>
          <a:xfrm>
            <a:off x="6473800" y="5762476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5" name="Shape 73"/>
          <p:cNvSpPr/>
          <p:nvPr/>
        </p:nvSpPr>
        <p:spPr>
          <a:xfrm>
            <a:off x="6473800" y="5026298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6" name="Shape 74"/>
          <p:cNvSpPr/>
          <p:nvPr/>
        </p:nvSpPr>
        <p:spPr>
          <a:xfrm>
            <a:off x="6473800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7" name="Shape 75"/>
          <p:cNvSpPr/>
          <p:nvPr/>
        </p:nvSpPr>
        <p:spPr>
          <a:xfrm>
            <a:off x="9077325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8" name="Text 76"/>
          <p:cNvSpPr/>
          <p:nvPr/>
        </p:nvSpPr>
        <p:spPr>
          <a:xfrm>
            <a:off x="6616675" y="5131073"/>
            <a:ext cx="24225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 · MATCH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6616675" y="5325368"/>
            <a:ext cx="20231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· gap · readiness engines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9201150" y="5026298"/>
            <a:ext cx="2612975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81" name="Shape 79"/>
          <p:cNvSpPr/>
          <p:nvPr/>
        </p:nvSpPr>
        <p:spPr>
          <a:xfrm>
            <a:off x="9201150" y="5762476"/>
            <a:ext cx="261297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2" name="Shape 80"/>
          <p:cNvSpPr/>
          <p:nvPr/>
        </p:nvSpPr>
        <p:spPr>
          <a:xfrm>
            <a:off x="9201150" y="5026298"/>
            <a:ext cx="2612975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3" name="Shape 81"/>
          <p:cNvSpPr/>
          <p:nvPr/>
        </p:nvSpPr>
        <p:spPr>
          <a:xfrm>
            <a:off x="9201150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4" name="Shape 82"/>
          <p:cNvSpPr/>
          <p:nvPr/>
        </p:nvSpPr>
        <p:spPr>
          <a:xfrm>
            <a:off x="11804600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5" name="Text 83"/>
          <p:cNvSpPr/>
          <p:nvPr/>
        </p:nvSpPr>
        <p:spPr>
          <a:xfrm>
            <a:off x="9344025" y="5131073"/>
            <a:ext cx="2422475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· GENERATE</a:t>
            </a:r>
            <a:endParaRPr lang="en-US" sz="975" dirty="0"/>
          </a:p>
        </p:txBody>
      </p:sp>
      <p:sp>
        <p:nvSpPr>
          <p:cNvPr id="86" name="Text 84"/>
          <p:cNvSpPr/>
          <p:nvPr/>
        </p:nvSpPr>
        <p:spPr>
          <a:xfrm>
            <a:off x="9344025" y="5325368"/>
            <a:ext cx="2063651" cy="368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· cover letter · projects · interview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1928425" y="5026298"/>
            <a:ext cx="2613050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88" name="Shape 86"/>
          <p:cNvSpPr/>
          <p:nvPr/>
        </p:nvSpPr>
        <p:spPr>
          <a:xfrm>
            <a:off x="11928425" y="5762476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9" name="Shape 87"/>
          <p:cNvSpPr/>
          <p:nvPr/>
        </p:nvSpPr>
        <p:spPr>
          <a:xfrm>
            <a:off x="11928425" y="5026298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0" name="Shape 88"/>
          <p:cNvSpPr/>
          <p:nvPr/>
        </p:nvSpPr>
        <p:spPr>
          <a:xfrm>
            <a:off x="11928425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1" name="Shape 89"/>
          <p:cNvSpPr/>
          <p:nvPr/>
        </p:nvSpPr>
        <p:spPr>
          <a:xfrm>
            <a:off x="14531950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2" name="Text 90"/>
          <p:cNvSpPr/>
          <p:nvPr/>
        </p:nvSpPr>
        <p:spPr>
          <a:xfrm>
            <a:off x="12071300" y="5131073"/>
            <a:ext cx="24225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A5 · SAFETY</a:t>
            </a:r>
            <a:endParaRPr lang="en-US" sz="975" dirty="0"/>
          </a:p>
        </p:txBody>
      </p:sp>
      <p:sp>
        <p:nvSpPr>
          <p:cNvPr id="93" name="Text 91"/>
          <p:cNvSpPr/>
          <p:nvPr/>
        </p:nvSpPr>
        <p:spPr>
          <a:xfrm>
            <a:off x="12071300" y="5325368"/>
            <a:ext cx="21001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PII · hallucination · bias · jailbreak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14655775" y="5026298"/>
            <a:ext cx="2613050" cy="745703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95" name="Shape 93"/>
          <p:cNvSpPr/>
          <p:nvPr/>
        </p:nvSpPr>
        <p:spPr>
          <a:xfrm>
            <a:off x="14655775" y="5762476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6" name="Shape 94"/>
          <p:cNvSpPr/>
          <p:nvPr/>
        </p:nvSpPr>
        <p:spPr>
          <a:xfrm>
            <a:off x="14655775" y="5026298"/>
            <a:ext cx="26130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7" name="Shape 95"/>
          <p:cNvSpPr/>
          <p:nvPr/>
        </p:nvSpPr>
        <p:spPr>
          <a:xfrm>
            <a:off x="14655775" y="5026298"/>
            <a:ext cx="28575" cy="7457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8" name="Shape 96"/>
          <p:cNvSpPr/>
          <p:nvPr/>
        </p:nvSpPr>
        <p:spPr>
          <a:xfrm>
            <a:off x="17259300" y="5026298"/>
            <a:ext cx="9525" cy="745703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9" name="Text 97"/>
          <p:cNvSpPr/>
          <p:nvPr/>
        </p:nvSpPr>
        <p:spPr>
          <a:xfrm>
            <a:off x="14798650" y="5131073"/>
            <a:ext cx="24225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A6 · EVAL</a:t>
            </a:r>
            <a:endParaRPr lang="en-US" sz="975" dirty="0"/>
          </a:p>
        </p:txBody>
      </p:sp>
      <p:sp>
        <p:nvSpPr>
          <p:cNvPr id="100" name="Text 98"/>
          <p:cNvSpPr/>
          <p:nvPr/>
        </p:nvSpPr>
        <p:spPr>
          <a:xfrm>
            <a:off x="14798650" y="5325368"/>
            <a:ext cx="238631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Offline goldens · drift · canary models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62000" y="6181576"/>
            <a:ext cx="16764000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0F172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19175" y="6426845"/>
            <a:ext cx="210450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 LEARNING LOOP</a:t>
            </a:r>
            <a:endParaRPr lang="en-US" sz="975" dirty="0"/>
          </a:p>
        </p:txBody>
      </p:sp>
      <p:sp>
        <p:nvSpPr>
          <p:cNvPr id="103" name="Text 101"/>
          <p:cNvSpPr/>
          <p:nvPr/>
        </p:nvSpPr>
        <p:spPr>
          <a:xfrm>
            <a:off x="3333229" y="6381601"/>
            <a:ext cx="143536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Edits, applications, interviews, rejections become training signal that re-ranks recommendations and recalibrates the readiness scorer.</a:t>
            </a:r>
            <a:endParaRPr lang="en-US" sz="1350" dirty="0"/>
          </a:p>
        </p:txBody>
      </p:sp>
      <p:sp>
        <p:nvSpPr>
          <p:cNvPr id="104" name="Shape 102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05" name="Text 103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106" name="Text 104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174047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12-MONTH ROADMAP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890700" y="614363"/>
            <a:ext cx="271435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 → M12 · 12 GO/NO-GO GATES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Twelve months. Twelve gates.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month closes with a measurable go/no-go. Failing a gate triggers scope re-cut, not silent slippage.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40285"/>
            <a:ext cx="16764000" cy="6698977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525" y="2649810"/>
            <a:ext cx="16744950" cy="543818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1" name="Shape 9"/>
          <p:cNvSpPr/>
          <p:nvPr/>
        </p:nvSpPr>
        <p:spPr>
          <a:xfrm>
            <a:off x="771525" y="3184103"/>
            <a:ext cx="1674495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2" name="Shape 10"/>
          <p:cNvSpPr/>
          <p:nvPr/>
        </p:nvSpPr>
        <p:spPr>
          <a:xfrm>
            <a:off x="2157413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Text 11"/>
          <p:cNvSpPr/>
          <p:nvPr/>
        </p:nvSpPr>
        <p:spPr>
          <a:xfrm>
            <a:off x="866775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866775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3552825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6" name="Text 14"/>
          <p:cNvSpPr/>
          <p:nvPr/>
        </p:nvSpPr>
        <p:spPr>
          <a:xfrm>
            <a:off x="2262188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262188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 Core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4948238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657600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Workflow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343650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2" name="Text 20"/>
          <p:cNvSpPr/>
          <p:nvPr/>
        </p:nvSpPr>
        <p:spPr>
          <a:xfrm>
            <a:off x="5053013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053013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 Jobs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7739062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8425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M5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448425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Proof-of-Skill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134475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8" name="Text 26"/>
          <p:cNvSpPr/>
          <p:nvPr/>
        </p:nvSpPr>
        <p:spPr>
          <a:xfrm>
            <a:off x="7843838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M6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843838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0529888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1" name="Text 29"/>
          <p:cNvSpPr/>
          <p:nvPr/>
        </p:nvSpPr>
        <p:spPr>
          <a:xfrm>
            <a:off x="9239250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M7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9239250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Interview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1925300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4" name="Text 32"/>
          <p:cNvSpPr/>
          <p:nvPr/>
        </p:nvSpPr>
        <p:spPr>
          <a:xfrm>
            <a:off x="10634663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M8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0634663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13320713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7" name="Text 35"/>
          <p:cNvSpPr/>
          <p:nvPr/>
        </p:nvSpPr>
        <p:spPr>
          <a:xfrm>
            <a:off x="12030075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M9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2030075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Marketplace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14716125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0" name="Text 38"/>
          <p:cNvSpPr/>
          <p:nvPr/>
        </p:nvSpPr>
        <p:spPr>
          <a:xfrm>
            <a:off x="13425488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M10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3425488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6111538" y="2649810"/>
            <a:ext cx="9525" cy="534293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Text 41"/>
          <p:cNvSpPr/>
          <p:nvPr/>
        </p:nvSpPr>
        <p:spPr>
          <a:xfrm>
            <a:off x="14820900" y="2764110"/>
            <a:ext cx="12715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M11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4820900" y="2921273"/>
            <a:ext cx="1271588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Network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6216313" y="2764110"/>
            <a:ext cx="128111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6216313" y="2921273"/>
            <a:ext cx="128111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Launch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2157413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8" name="Shape 46"/>
          <p:cNvSpPr/>
          <p:nvPr/>
        </p:nvSpPr>
        <p:spPr>
          <a:xfrm>
            <a:off x="847725" y="3326978"/>
            <a:ext cx="1233488" cy="623813"/>
          </a:xfrm>
          <a:prstGeom prst="rect">
            <a:avLst/>
          </a:prstGeom>
          <a:solidFill>
            <a:srgbClr val="EEF0FF"/>
          </a:solidFill>
          <a:ln w="9525">
            <a:solidFill>
              <a:srgbClr val="DDE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2500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Discovery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952500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PRD · schema · UX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847725" y="9001125"/>
            <a:ext cx="1160190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029700"/>
            <a:ext cx="110304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 · BLUEPRINT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3552825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4" name="Shape 52"/>
          <p:cNvSpPr/>
          <p:nvPr/>
        </p:nvSpPr>
        <p:spPr>
          <a:xfrm>
            <a:off x="2243138" y="3326978"/>
            <a:ext cx="1233488" cy="623813"/>
          </a:xfrm>
          <a:prstGeom prst="rect">
            <a:avLst/>
          </a:prstGeom>
          <a:solidFill>
            <a:srgbClr val="EEF0FF"/>
          </a:solidFill>
          <a:ln w="9525">
            <a:solidFill>
              <a:srgbClr val="DDE0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47913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Onboarding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2347913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.edu · profile · upload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2243138" y="9001125"/>
            <a:ext cx="1013520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8" name="Text 56"/>
          <p:cNvSpPr/>
          <p:nvPr/>
        </p:nvSpPr>
        <p:spPr>
          <a:xfrm>
            <a:off x="2309813" y="9029700"/>
            <a:ext cx="956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G2 · ONBOARD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4948238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0" name="Shape 58"/>
          <p:cNvSpPr/>
          <p:nvPr/>
        </p:nvSpPr>
        <p:spPr>
          <a:xfrm>
            <a:off x="3638550" y="3326978"/>
            <a:ext cx="1233488" cy="623813"/>
          </a:xfrm>
          <a:prstGeom prst="rect">
            <a:avLst/>
          </a:prstGeom>
          <a:solidFill>
            <a:srgbClr val="E6F4F2"/>
          </a:solidFill>
          <a:ln w="9525">
            <a:solidFill>
              <a:srgbClr val="C7E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3325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app loop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3743325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 · CL · approve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3638550" y="9001125"/>
            <a:ext cx="940147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64" name="Text 62"/>
          <p:cNvSpPr/>
          <p:nvPr/>
        </p:nvSpPr>
        <p:spPr>
          <a:xfrm>
            <a:off x="3705225" y="9029700"/>
            <a:ext cx="88299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G3 · USEFUL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343650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6" name="Shape 64"/>
          <p:cNvSpPr/>
          <p:nvPr/>
        </p:nvSpPr>
        <p:spPr>
          <a:xfrm>
            <a:off x="5033963" y="3326978"/>
            <a:ext cx="1233488" cy="623813"/>
          </a:xfrm>
          <a:prstGeom prst="rect">
            <a:avLst/>
          </a:prstGeom>
          <a:solidFill>
            <a:srgbClr val="E6F4F2"/>
          </a:solidFill>
          <a:ln w="9525">
            <a:solidFill>
              <a:srgbClr val="C7E6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38738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 matching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5138738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Tracker · visa · digest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5033963" y="9001125"/>
            <a:ext cx="1086817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70" name="Text 68"/>
          <p:cNvSpPr/>
          <p:nvPr/>
        </p:nvSpPr>
        <p:spPr>
          <a:xfrm>
            <a:off x="5100638" y="9029700"/>
            <a:ext cx="102966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G4 · ACTIVITY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7739062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2" name="Shape 70"/>
          <p:cNvSpPr/>
          <p:nvPr/>
        </p:nvSpPr>
        <p:spPr>
          <a:xfrm>
            <a:off x="6429375" y="3326978"/>
            <a:ext cx="1233488" cy="6238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4150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Proof-of-skill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6534150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· GitHub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6429375" y="9001125"/>
            <a:ext cx="866775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76" name="Text 74"/>
          <p:cNvSpPr/>
          <p:nvPr/>
        </p:nvSpPr>
        <p:spPr>
          <a:xfrm>
            <a:off x="6496050" y="9029700"/>
            <a:ext cx="80962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G5 · TRUST</a:t>
            </a:r>
            <a:endParaRPr lang="en-US" sz="825" dirty="0"/>
          </a:p>
        </p:txBody>
      </p:sp>
      <p:sp>
        <p:nvSpPr>
          <p:cNvPr id="77" name="Shape 75"/>
          <p:cNvSpPr/>
          <p:nvPr/>
        </p:nvSpPr>
        <p:spPr>
          <a:xfrm>
            <a:off x="9134475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8" name="Shape 76"/>
          <p:cNvSpPr/>
          <p:nvPr/>
        </p:nvSpPr>
        <p:spPr>
          <a:xfrm>
            <a:off x="7824787" y="3326978"/>
            <a:ext cx="1233488" cy="623813"/>
          </a:xfrm>
          <a:prstGeom prst="rect">
            <a:avLst/>
          </a:prstGeom>
          <a:solidFill>
            <a:srgbClr val="E6F4F2"/>
          </a:solidFill>
          <a:ln w="9525">
            <a:solidFill>
              <a:srgbClr val="C7E6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29563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Career intel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7929563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Readiness · projects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7824787" y="9001125"/>
            <a:ext cx="793477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2" name="Text 80"/>
          <p:cNvSpPr/>
          <p:nvPr/>
        </p:nvSpPr>
        <p:spPr>
          <a:xfrm>
            <a:off x="7891462" y="9029700"/>
            <a:ext cx="73632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G6 · LIFT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10529888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4" name="Shape 82"/>
          <p:cNvSpPr/>
          <p:nvPr/>
        </p:nvSpPr>
        <p:spPr>
          <a:xfrm>
            <a:off x="9220200" y="3326978"/>
            <a:ext cx="1233488" cy="487635"/>
          </a:xfrm>
          <a:prstGeom prst="rect">
            <a:avLst/>
          </a:prstGeom>
          <a:solidFill>
            <a:srgbClr val="EEF0FF"/>
          </a:solidFill>
          <a:ln w="9525">
            <a:solidFill>
              <a:srgbClr val="DDE0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24975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Interview prep</a:t>
            </a:r>
            <a:endParaRPr lang="en-US" sz="975" dirty="0"/>
          </a:p>
        </p:txBody>
      </p:sp>
      <p:sp>
        <p:nvSpPr>
          <p:cNvPr id="86" name="Text 84"/>
          <p:cNvSpPr/>
          <p:nvPr/>
        </p:nvSpPr>
        <p:spPr>
          <a:xfrm>
            <a:off x="9324975" y="3592711"/>
            <a:ext cx="1100138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 + polish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9220200" y="9001125"/>
            <a:ext cx="720105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88" name="Text 86"/>
          <p:cNvSpPr/>
          <p:nvPr/>
        </p:nvSpPr>
        <p:spPr>
          <a:xfrm>
            <a:off x="9286875" y="9029700"/>
            <a:ext cx="6629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G7 · 50+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11925300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90" name="Shape 88"/>
          <p:cNvSpPr/>
          <p:nvPr/>
        </p:nvSpPr>
        <p:spPr>
          <a:xfrm>
            <a:off x="10615613" y="3326978"/>
            <a:ext cx="1233488" cy="487635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720388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v1</a:t>
            </a:r>
            <a:endParaRPr lang="en-US" sz="975" dirty="0"/>
          </a:p>
        </p:txBody>
      </p:sp>
      <p:sp>
        <p:nvSpPr>
          <p:cNvPr id="92" name="Text 90"/>
          <p:cNvSpPr/>
          <p:nvPr/>
        </p:nvSpPr>
        <p:spPr>
          <a:xfrm>
            <a:off x="10720388" y="3592711"/>
            <a:ext cx="1100138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 · invite</a:t>
            </a:r>
            <a:endParaRPr lang="en-US" sz="825" dirty="0"/>
          </a:p>
        </p:txBody>
      </p:sp>
      <p:sp>
        <p:nvSpPr>
          <p:cNvPr id="93" name="Shape 91"/>
          <p:cNvSpPr/>
          <p:nvPr/>
        </p:nvSpPr>
        <p:spPr>
          <a:xfrm>
            <a:off x="10615613" y="9001125"/>
            <a:ext cx="940147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94" name="Text 92"/>
          <p:cNvSpPr/>
          <p:nvPr/>
        </p:nvSpPr>
        <p:spPr>
          <a:xfrm>
            <a:off x="10682288" y="9029700"/>
            <a:ext cx="88299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G8 · PILOTS</a:t>
            </a:r>
            <a:endParaRPr lang="en-US" sz="825" dirty="0"/>
          </a:p>
        </p:txBody>
      </p:sp>
      <p:sp>
        <p:nvSpPr>
          <p:cNvPr id="95" name="Shape 93"/>
          <p:cNvSpPr/>
          <p:nvPr/>
        </p:nvSpPr>
        <p:spPr>
          <a:xfrm>
            <a:off x="13320713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96" name="Shape 94"/>
          <p:cNvSpPr/>
          <p:nvPr/>
        </p:nvSpPr>
        <p:spPr>
          <a:xfrm>
            <a:off x="12011025" y="3326978"/>
            <a:ext cx="1233488" cy="487635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2115800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Monetization</a:t>
            </a:r>
            <a:endParaRPr lang="en-US" sz="975" dirty="0"/>
          </a:p>
        </p:txBody>
      </p:sp>
      <p:sp>
        <p:nvSpPr>
          <p:cNvPr id="98" name="Text 96"/>
          <p:cNvSpPr/>
          <p:nvPr/>
        </p:nvSpPr>
        <p:spPr>
          <a:xfrm>
            <a:off x="12115800" y="3592711"/>
            <a:ext cx="1100138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Stripe · plans</a:t>
            </a:r>
            <a:endParaRPr lang="en-US" sz="825" dirty="0"/>
          </a:p>
        </p:txBody>
      </p:sp>
      <p:sp>
        <p:nvSpPr>
          <p:cNvPr id="99" name="Shape 97"/>
          <p:cNvSpPr/>
          <p:nvPr/>
        </p:nvSpPr>
        <p:spPr>
          <a:xfrm>
            <a:off x="12011025" y="9001125"/>
            <a:ext cx="793477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00" name="Text 98"/>
          <p:cNvSpPr/>
          <p:nvPr/>
        </p:nvSpPr>
        <p:spPr>
          <a:xfrm>
            <a:off x="12077700" y="9029700"/>
            <a:ext cx="73632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G9 · PAID</a:t>
            </a:r>
            <a:endParaRPr lang="en-US" sz="825" dirty="0"/>
          </a:p>
        </p:txBody>
      </p:sp>
      <p:sp>
        <p:nvSpPr>
          <p:cNvPr id="101" name="Shape 99"/>
          <p:cNvSpPr/>
          <p:nvPr/>
        </p:nvSpPr>
        <p:spPr>
          <a:xfrm>
            <a:off x="14716125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3406438" y="3326978"/>
            <a:ext cx="1233488" cy="487635"/>
          </a:xfrm>
          <a:prstGeom prst="rect">
            <a:avLst/>
          </a:prstGeom>
          <a:solidFill>
            <a:srgbClr val="E6F4EC"/>
          </a:solidFill>
          <a:ln w="9525">
            <a:solidFill>
              <a:srgbClr val="C9E3D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511213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</a:t>
            </a:r>
            <a:endParaRPr lang="en-US" sz="975" dirty="0"/>
          </a:p>
        </p:txBody>
      </p:sp>
      <p:sp>
        <p:nvSpPr>
          <p:cNvPr id="104" name="Text 102"/>
          <p:cNvSpPr/>
          <p:nvPr/>
        </p:nvSpPr>
        <p:spPr>
          <a:xfrm>
            <a:off x="13511213" y="3592711"/>
            <a:ext cx="1100138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k-anon analytics</a:t>
            </a:r>
            <a:endParaRPr lang="en-US" sz="825" dirty="0"/>
          </a:p>
        </p:txBody>
      </p:sp>
      <p:sp>
        <p:nvSpPr>
          <p:cNvPr id="105" name="Shape 103"/>
          <p:cNvSpPr/>
          <p:nvPr/>
        </p:nvSpPr>
        <p:spPr>
          <a:xfrm>
            <a:off x="13406438" y="9001125"/>
            <a:ext cx="1233488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06" name="Text 104"/>
          <p:cNvSpPr/>
          <p:nvPr/>
        </p:nvSpPr>
        <p:spPr>
          <a:xfrm>
            <a:off x="13473113" y="9029700"/>
            <a:ext cx="11763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G10 · CONFIRMED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16111538" y="3193628"/>
            <a:ext cx="9525" cy="6136109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4801850" y="3326978"/>
            <a:ext cx="1233488" cy="623813"/>
          </a:xfrm>
          <a:prstGeom prst="rect">
            <a:avLst/>
          </a:prstGeom>
          <a:solidFill>
            <a:srgbClr val="E6F4EC"/>
          </a:solidFill>
          <a:ln w="9525">
            <a:solidFill>
              <a:srgbClr val="C9E3D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4906625" y="3412703"/>
            <a:ext cx="1100138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Network</a:t>
            </a:r>
            <a:endParaRPr lang="en-US" sz="975" dirty="0"/>
          </a:p>
        </p:txBody>
      </p:sp>
      <p:sp>
        <p:nvSpPr>
          <p:cNvPr id="110" name="Text 108"/>
          <p:cNvSpPr/>
          <p:nvPr/>
        </p:nvSpPr>
        <p:spPr>
          <a:xfrm>
            <a:off x="14906625" y="3592711"/>
            <a:ext cx="110013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· benchmark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4801850" y="8863013"/>
            <a:ext cx="1233488" cy="33337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12" name="Text 110"/>
          <p:cNvSpPr/>
          <p:nvPr/>
        </p:nvSpPr>
        <p:spPr>
          <a:xfrm>
            <a:off x="14868525" y="8891588"/>
            <a:ext cx="1176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G11 · USEFUL+SAFE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16197263" y="3326978"/>
            <a:ext cx="1243013" cy="6238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6302038" y="3412703"/>
            <a:ext cx="1109662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Hardening</a:t>
            </a:r>
            <a:endParaRPr lang="en-US" sz="975" dirty="0"/>
          </a:p>
        </p:txBody>
      </p:sp>
      <p:sp>
        <p:nvSpPr>
          <p:cNvPr id="115" name="Text 113"/>
          <p:cNvSpPr/>
          <p:nvPr/>
        </p:nvSpPr>
        <p:spPr>
          <a:xfrm>
            <a:off x="16302038" y="3592711"/>
            <a:ext cx="1109662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 test · launch</a:t>
            </a:r>
            <a:endParaRPr lang="en-US" sz="825" dirty="0"/>
          </a:p>
        </p:txBody>
      </p:sp>
      <p:sp>
        <p:nvSpPr>
          <p:cNvPr id="116" name="Shape 114"/>
          <p:cNvSpPr/>
          <p:nvPr/>
        </p:nvSpPr>
        <p:spPr>
          <a:xfrm>
            <a:off x="16197263" y="9001125"/>
            <a:ext cx="720105" cy="195263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17" name="Text 115"/>
          <p:cNvSpPr/>
          <p:nvPr/>
        </p:nvSpPr>
        <p:spPr>
          <a:xfrm>
            <a:off x="16263938" y="9029700"/>
            <a:ext cx="66295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G12 · GA</a:t>
            </a:r>
            <a:endParaRPr lang="en-US" sz="825" dirty="0"/>
          </a:p>
        </p:txBody>
      </p:sp>
      <p:sp>
        <p:nvSpPr>
          <p:cNvPr id="118" name="Shape 116"/>
          <p:cNvSpPr/>
          <p:nvPr/>
        </p:nvSpPr>
        <p:spPr>
          <a:xfrm>
            <a:off x="762000" y="9527381"/>
            <a:ext cx="133350" cy="133350"/>
          </a:xfrm>
          <a:prstGeom prst="rect">
            <a:avLst/>
          </a:prstGeom>
          <a:solidFill>
            <a:srgbClr val="EEF0FF"/>
          </a:solidFill>
          <a:ln w="9525">
            <a:solidFill>
              <a:srgbClr val="DDE0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71550" y="9510713"/>
            <a:ext cx="94297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975" dirty="0"/>
          </a:p>
        </p:txBody>
      </p:sp>
      <p:sp>
        <p:nvSpPr>
          <p:cNvPr id="120" name="Shape 118"/>
          <p:cNvSpPr/>
          <p:nvPr/>
        </p:nvSpPr>
        <p:spPr>
          <a:xfrm>
            <a:off x="2066925" y="9527381"/>
            <a:ext cx="133350" cy="133350"/>
          </a:xfrm>
          <a:prstGeom prst="rect">
            <a:avLst/>
          </a:prstGeom>
          <a:solidFill>
            <a:srgbClr val="E6F4F2"/>
          </a:solidFill>
          <a:ln w="9525">
            <a:solidFill>
              <a:srgbClr val="C7E6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276475" y="9510713"/>
            <a:ext cx="111636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INTELLIGENCE</a:t>
            </a:r>
            <a:endParaRPr lang="en-US" sz="975" dirty="0"/>
          </a:p>
        </p:txBody>
      </p:sp>
      <p:sp>
        <p:nvSpPr>
          <p:cNvPr id="122" name="Shape 120"/>
          <p:cNvSpPr/>
          <p:nvPr/>
        </p:nvSpPr>
        <p:spPr>
          <a:xfrm>
            <a:off x="3545235" y="9527381"/>
            <a:ext cx="133350" cy="1333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54785" y="9510713"/>
            <a:ext cx="1203052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&amp; PROOF</a:t>
            </a:r>
            <a:endParaRPr lang="en-US" sz="975" dirty="0"/>
          </a:p>
        </p:txBody>
      </p:sp>
      <p:sp>
        <p:nvSpPr>
          <p:cNvPr id="124" name="Shape 122"/>
          <p:cNvSpPr/>
          <p:nvPr/>
        </p:nvSpPr>
        <p:spPr>
          <a:xfrm>
            <a:off x="5110237" y="9527381"/>
            <a:ext cx="133350" cy="133350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19787" y="9510713"/>
            <a:ext cx="102966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MARKETPLACE</a:t>
            </a:r>
            <a:endParaRPr lang="en-US" sz="975" dirty="0"/>
          </a:p>
        </p:txBody>
      </p:sp>
      <p:sp>
        <p:nvSpPr>
          <p:cNvPr id="126" name="Shape 124"/>
          <p:cNvSpPr/>
          <p:nvPr/>
        </p:nvSpPr>
        <p:spPr>
          <a:xfrm>
            <a:off x="6501854" y="9527381"/>
            <a:ext cx="133350" cy="133350"/>
          </a:xfrm>
          <a:prstGeom prst="rect">
            <a:avLst/>
          </a:prstGeom>
          <a:solidFill>
            <a:srgbClr val="E6F4EC"/>
          </a:solidFill>
          <a:ln w="9525">
            <a:solidFill>
              <a:srgbClr val="C9E3D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711404" y="9510713"/>
            <a:ext cx="137636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NETWORK &amp; SCALE</a:t>
            </a:r>
            <a:endParaRPr lang="en-US" sz="975" dirty="0"/>
          </a:p>
        </p:txBody>
      </p:sp>
      <p:sp>
        <p:nvSpPr>
          <p:cNvPr id="128" name="Shape 126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29" name="Text 127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130" name="Text 128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67833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NOW VS. BUILD LATER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020231" y="614363"/>
            <a:ext cx="158196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DISCIPLINE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Anything not on the left is intentionally deferred.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"Build later" items are scaffolded behind feature flags during M12 but not shipped until post-12-month.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97435"/>
            <a:ext cx="8267700" cy="69799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7275" y="2992710"/>
            <a:ext cx="79074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now · in the 12-month plan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57275" y="3368948"/>
            <a:ext cx="790746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CRITICAL PATH · M1 → M12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057275" y="3745185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7275" y="4230737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7275" y="374518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275" y="3745185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3745185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391886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1155" y="3909343"/>
            <a:ext cx="142369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.edu signup &amp; profile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981575" y="3745185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81575" y="4230737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1575" y="374518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" name="Shape 20"/>
          <p:cNvSpPr/>
          <p:nvPr/>
        </p:nvSpPr>
        <p:spPr>
          <a:xfrm>
            <a:off x="4981575" y="3745185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724900" y="3745185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" name="Text 22"/>
          <p:cNvSpPr/>
          <p:nvPr/>
        </p:nvSpPr>
        <p:spPr>
          <a:xfrm>
            <a:off x="5124450" y="391886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25455" y="3909343"/>
            <a:ext cx="1830214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Resume upload + AI parser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1057275" y="4316462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7275" y="480201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7275" y="4316462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7275" y="4316462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4316462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1" name="Text 29"/>
          <p:cNvSpPr/>
          <p:nvPr/>
        </p:nvSpPr>
        <p:spPr>
          <a:xfrm>
            <a:off x="1200150" y="449014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1155" y="4480620"/>
            <a:ext cx="149378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· gaps · explain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4981575" y="4316462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981575" y="480201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5" name="Shape 33"/>
          <p:cNvSpPr/>
          <p:nvPr/>
        </p:nvSpPr>
        <p:spPr>
          <a:xfrm>
            <a:off x="4981575" y="4316462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1575" y="4316462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Shape 35"/>
          <p:cNvSpPr/>
          <p:nvPr/>
        </p:nvSpPr>
        <p:spPr>
          <a:xfrm>
            <a:off x="8724900" y="4316462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38" name="Text 36"/>
          <p:cNvSpPr/>
          <p:nvPr/>
        </p:nvSpPr>
        <p:spPr>
          <a:xfrm>
            <a:off x="5124450" y="449014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25455" y="4480620"/>
            <a:ext cx="158591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Tailored resume bullets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1057275" y="4887739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7275" y="537329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7275" y="488773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7275" y="4887739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4" name="Shape 42"/>
          <p:cNvSpPr/>
          <p:nvPr/>
        </p:nvSpPr>
        <p:spPr>
          <a:xfrm>
            <a:off x="4800600" y="4887739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5" name="Text 43"/>
          <p:cNvSpPr/>
          <p:nvPr/>
        </p:nvSpPr>
        <p:spPr>
          <a:xfrm>
            <a:off x="1200150" y="506142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01155" y="5051896"/>
            <a:ext cx="151521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Cover letter generator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4981575" y="4887739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981575" y="537329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49" name="Shape 47"/>
          <p:cNvSpPr/>
          <p:nvPr/>
        </p:nvSpPr>
        <p:spPr>
          <a:xfrm>
            <a:off x="4981575" y="488773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50" name="Shape 48"/>
          <p:cNvSpPr/>
          <p:nvPr/>
        </p:nvSpPr>
        <p:spPr>
          <a:xfrm>
            <a:off x="4981575" y="4887739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1" name="Shape 49"/>
          <p:cNvSpPr/>
          <p:nvPr/>
        </p:nvSpPr>
        <p:spPr>
          <a:xfrm>
            <a:off x="8724900" y="4887739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52" name="Text 50"/>
          <p:cNvSpPr/>
          <p:nvPr/>
        </p:nvSpPr>
        <p:spPr>
          <a:xfrm>
            <a:off x="5124450" y="506142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25455" y="5051896"/>
            <a:ext cx="109641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queue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1057275" y="5459016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7275" y="5944567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56" name="Shape 54"/>
          <p:cNvSpPr/>
          <p:nvPr/>
        </p:nvSpPr>
        <p:spPr>
          <a:xfrm>
            <a:off x="1057275" y="545901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57" name="Shape 55"/>
          <p:cNvSpPr/>
          <p:nvPr/>
        </p:nvSpPr>
        <p:spPr>
          <a:xfrm>
            <a:off x="1057275" y="5459016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8" name="Shape 56"/>
          <p:cNvSpPr/>
          <p:nvPr/>
        </p:nvSpPr>
        <p:spPr>
          <a:xfrm>
            <a:off x="4800600" y="5459016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59" name="Text 57"/>
          <p:cNvSpPr/>
          <p:nvPr/>
        </p:nvSpPr>
        <p:spPr>
          <a:xfrm>
            <a:off x="1200150" y="563269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501155" y="5623173"/>
            <a:ext cx="1883346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 job discovery + tracker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4981575" y="5459016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981575" y="5944567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3" name="Shape 61"/>
          <p:cNvSpPr/>
          <p:nvPr/>
        </p:nvSpPr>
        <p:spPr>
          <a:xfrm>
            <a:off x="4981575" y="545901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4" name="Shape 62"/>
          <p:cNvSpPr/>
          <p:nvPr/>
        </p:nvSpPr>
        <p:spPr>
          <a:xfrm>
            <a:off x="4981575" y="5459016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5" name="Shape 63"/>
          <p:cNvSpPr/>
          <p:nvPr/>
        </p:nvSpPr>
        <p:spPr>
          <a:xfrm>
            <a:off x="8724900" y="5459016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66" name="Text 64"/>
          <p:cNvSpPr/>
          <p:nvPr/>
        </p:nvSpPr>
        <p:spPr>
          <a:xfrm>
            <a:off x="5124450" y="563269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N08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25455" y="5623173"/>
            <a:ext cx="1336774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Visa-aware filtering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1057275" y="6030292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1057275" y="651584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0" name="Shape 68"/>
          <p:cNvSpPr/>
          <p:nvPr/>
        </p:nvSpPr>
        <p:spPr>
          <a:xfrm>
            <a:off x="1057275" y="6030292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1" name="Shape 69"/>
          <p:cNvSpPr/>
          <p:nvPr/>
        </p:nvSpPr>
        <p:spPr>
          <a:xfrm>
            <a:off x="1057275" y="6030292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2" name="Shape 70"/>
          <p:cNvSpPr/>
          <p:nvPr/>
        </p:nvSpPr>
        <p:spPr>
          <a:xfrm>
            <a:off x="4800600" y="6030292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3" name="Text 71"/>
          <p:cNvSpPr/>
          <p:nvPr/>
        </p:nvSpPr>
        <p:spPr>
          <a:xfrm>
            <a:off x="1200150" y="620397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N09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501155" y="6194450"/>
            <a:ext cx="111970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 analyzer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4981575" y="6030292"/>
            <a:ext cx="3752850" cy="49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4981575" y="651584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7" name="Shape 75"/>
          <p:cNvSpPr/>
          <p:nvPr/>
        </p:nvSpPr>
        <p:spPr>
          <a:xfrm>
            <a:off x="4981575" y="6030292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78" name="Shape 76"/>
          <p:cNvSpPr/>
          <p:nvPr/>
        </p:nvSpPr>
        <p:spPr>
          <a:xfrm>
            <a:off x="4981575" y="6030292"/>
            <a:ext cx="28575" cy="49507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9" name="Shape 77"/>
          <p:cNvSpPr/>
          <p:nvPr/>
        </p:nvSpPr>
        <p:spPr>
          <a:xfrm>
            <a:off x="8724900" y="6030292"/>
            <a:ext cx="9525" cy="4950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0" name="Text 78"/>
          <p:cNvSpPr/>
          <p:nvPr/>
        </p:nvSpPr>
        <p:spPr>
          <a:xfrm>
            <a:off x="5124450" y="620397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425455" y="6194450"/>
            <a:ext cx="128222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Proof-of-skill layer</a:t>
            </a:r>
            <a:endParaRPr lang="en-US" sz="1125" dirty="0"/>
          </a:p>
        </p:txBody>
      </p:sp>
      <p:sp>
        <p:nvSpPr>
          <p:cNvPr id="82" name="Shape 80"/>
          <p:cNvSpPr/>
          <p:nvPr/>
        </p:nvSpPr>
        <p:spPr>
          <a:xfrm>
            <a:off x="1057275" y="6601569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1057275" y="708719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4" name="Shape 82"/>
          <p:cNvSpPr/>
          <p:nvPr/>
        </p:nvSpPr>
        <p:spPr>
          <a:xfrm>
            <a:off x="1057275" y="660156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5" name="Shape 83"/>
          <p:cNvSpPr/>
          <p:nvPr/>
        </p:nvSpPr>
        <p:spPr>
          <a:xfrm>
            <a:off x="1057275" y="6601569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6" name="Shape 84"/>
          <p:cNvSpPr/>
          <p:nvPr/>
        </p:nvSpPr>
        <p:spPr>
          <a:xfrm>
            <a:off x="4800600" y="6601569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87" name="Text 85"/>
          <p:cNvSpPr/>
          <p:nvPr/>
        </p:nvSpPr>
        <p:spPr>
          <a:xfrm>
            <a:off x="1200150" y="6775326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501155" y="6765801"/>
            <a:ext cx="138975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 · projects</a:t>
            </a:r>
            <a:endParaRPr lang="en-US" sz="1125" dirty="0"/>
          </a:p>
        </p:txBody>
      </p:sp>
      <p:sp>
        <p:nvSpPr>
          <p:cNvPr id="89" name="Shape 87"/>
          <p:cNvSpPr/>
          <p:nvPr/>
        </p:nvSpPr>
        <p:spPr>
          <a:xfrm>
            <a:off x="4981575" y="6601569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4981575" y="708719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1" name="Shape 89"/>
          <p:cNvSpPr/>
          <p:nvPr/>
        </p:nvSpPr>
        <p:spPr>
          <a:xfrm>
            <a:off x="4981575" y="660156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2" name="Shape 90"/>
          <p:cNvSpPr/>
          <p:nvPr/>
        </p:nvSpPr>
        <p:spPr>
          <a:xfrm>
            <a:off x="4981575" y="6601569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3" name="Shape 91"/>
          <p:cNvSpPr/>
          <p:nvPr/>
        </p:nvSpPr>
        <p:spPr>
          <a:xfrm>
            <a:off x="8724900" y="6601569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4" name="Text 92"/>
          <p:cNvSpPr/>
          <p:nvPr/>
        </p:nvSpPr>
        <p:spPr>
          <a:xfrm>
            <a:off x="5124450" y="6775326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425455" y="6765801"/>
            <a:ext cx="154014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Mock interview engine</a:t>
            </a:r>
            <a:endParaRPr lang="en-US" sz="1125" dirty="0"/>
          </a:p>
        </p:txBody>
      </p:sp>
      <p:sp>
        <p:nvSpPr>
          <p:cNvPr id="96" name="Shape 94"/>
          <p:cNvSpPr/>
          <p:nvPr/>
        </p:nvSpPr>
        <p:spPr>
          <a:xfrm>
            <a:off x="1057275" y="7172920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1057275" y="765854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8" name="Shape 96"/>
          <p:cNvSpPr/>
          <p:nvPr/>
        </p:nvSpPr>
        <p:spPr>
          <a:xfrm>
            <a:off x="1057275" y="717292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99" name="Shape 97"/>
          <p:cNvSpPr/>
          <p:nvPr/>
        </p:nvSpPr>
        <p:spPr>
          <a:xfrm>
            <a:off x="1057275" y="7172920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00600" y="7172920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1" name="Text 99"/>
          <p:cNvSpPr/>
          <p:nvPr/>
        </p:nvSpPr>
        <p:spPr>
          <a:xfrm>
            <a:off x="1200150" y="7346677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501155" y="7337152"/>
            <a:ext cx="1430982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portal MVP</a:t>
            </a:r>
            <a:endParaRPr lang="en-US" sz="1125" dirty="0"/>
          </a:p>
        </p:txBody>
      </p:sp>
      <p:sp>
        <p:nvSpPr>
          <p:cNvPr id="103" name="Shape 101"/>
          <p:cNvSpPr/>
          <p:nvPr/>
        </p:nvSpPr>
        <p:spPr>
          <a:xfrm>
            <a:off x="4981575" y="7172920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981575" y="765854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981575" y="717292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981575" y="7172920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724900" y="7172920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08" name="Text 106"/>
          <p:cNvSpPr/>
          <p:nvPr/>
        </p:nvSpPr>
        <p:spPr>
          <a:xfrm>
            <a:off x="5124450" y="7346677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5425455" y="7337152"/>
            <a:ext cx="977131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Stripe + plans</a:t>
            </a:r>
            <a:endParaRPr lang="en-US" sz="1125" dirty="0"/>
          </a:p>
        </p:txBody>
      </p:sp>
      <p:sp>
        <p:nvSpPr>
          <p:cNvPr id="110" name="Shape 108"/>
          <p:cNvSpPr/>
          <p:nvPr/>
        </p:nvSpPr>
        <p:spPr>
          <a:xfrm>
            <a:off x="1057275" y="7744271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57275" y="822989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57275" y="774427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57275" y="7744271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800600" y="7744271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5" name="Text 113"/>
          <p:cNvSpPr/>
          <p:nvPr/>
        </p:nvSpPr>
        <p:spPr>
          <a:xfrm>
            <a:off x="1200150" y="791802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N15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501155" y="7908503"/>
            <a:ext cx="151849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University analytics v1</a:t>
            </a:r>
            <a:endParaRPr lang="en-US" sz="1125" dirty="0"/>
          </a:p>
        </p:txBody>
      </p:sp>
      <p:sp>
        <p:nvSpPr>
          <p:cNvPr id="117" name="Shape 115"/>
          <p:cNvSpPr/>
          <p:nvPr/>
        </p:nvSpPr>
        <p:spPr>
          <a:xfrm>
            <a:off x="4981575" y="7744271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981575" y="822989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981575" y="774427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981575" y="7744271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724900" y="7744271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2" name="Text 120"/>
          <p:cNvSpPr/>
          <p:nvPr/>
        </p:nvSpPr>
        <p:spPr>
          <a:xfrm>
            <a:off x="5124450" y="791802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N16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425455" y="7908503"/>
            <a:ext cx="134243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Peer benchmarking</a:t>
            </a:r>
            <a:endParaRPr lang="en-US" sz="1125" dirty="0"/>
          </a:p>
        </p:txBody>
      </p:sp>
      <p:sp>
        <p:nvSpPr>
          <p:cNvPr id="124" name="Shape 122"/>
          <p:cNvSpPr/>
          <p:nvPr/>
        </p:nvSpPr>
        <p:spPr>
          <a:xfrm>
            <a:off x="1057275" y="8315623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57275" y="880124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057275" y="831562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57275" y="8315623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800600" y="8315623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29" name="Text 127"/>
          <p:cNvSpPr/>
          <p:nvPr/>
        </p:nvSpPr>
        <p:spPr>
          <a:xfrm>
            <a:off x="1200150" y="8489379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1501155" y="8479854"/>
            <a:ext cx="141126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trust score</a:t>
            </a:r>
            <a:endParaRPr lang="en-US" sz="1125" dirty="0"/>
          </a:p>
        </p:txBody>
      </p:sp>
      <p:sp>
        <p:nvSpPr>
          <p:cNvPr id="131" name="Shape 129"/>
          <p:cNvSpPr/>
          <p:nvPr/>
        </p:nvSpPr>
        <p:spPr>
          <a:xfrm>
            <a:off x="4981575" y="8315623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4981575" y="880124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981575" y="831562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981575" y="8315623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724900" y="8315623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36" name="Text 134"/>
          <p:cNvSpPr/>
          <p:nvPr/>
        </p:nvSpPr>
        <p:spPr>
          <a:xfrm>
            <a:off x="5124450" y="8489379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N18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5425455" y="8479854"/>
            <a:ext cx="133364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Reference graph v1</a:t>
            </a:r>
            <a:endParaRPr lang="en-US" sz="1125" dirty="0"/>
          </a:p>
        </p:txBody>
      </p:sp>
      <p:sp>
        <p:nvSpPr>
          <p:cNvPr id="138" name="Shape 136"/>
          <p:cNvSpPr/>
          <p:nvPr/>
        </p:nvSpPr>
        <p:spPr>
          <a:xfrm>
            <a:off x="1057275" y="8886974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57275" y="937260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57275" y="888697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57275" y="8886974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800600" y="8886974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3" name="Text 141"/>
          <p:cNvSpPr/>
          <p:nvPr/>
        </p:nvSpPr>
        <p:spPr>
          <a:xfrm>
            <a:off x="1200150" y="906073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N19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1501155" y="9051206"/>
            <a:ext cx="148039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Production hardening</a:t>
            </a:r>
            <a:endParaRPr lang="en-US" sz="1125" dirty="0"/>
          </a:p>
        </p:txBody>
      </p:sp>
      <p:sp>
        <p:nvSpPr>
          <p:cNvPr id="145" name="Shape 143"/>
          <p:cNvSpPr/>
          <p:nvPr/>
        </p:nvSpPr>
        <p:spPr>
          <a:xfrm>
            <a:off x="4981575" y="8886974"/>
            <a:ext cx="3752850" cy="495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981575" y="937260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981575" y="888697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981575" y="8886974"/>
            <a:ext cx="28575" cy="49515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724900" y="8886974"/>
            <a:ext cx="9525" cy="495151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50" name="Text 148"/>
          <p:cNvSpPr/>
          <p:nvPr/>
        </p:nvSpPr>
        <p:spPr>
          <a:xfrm>
            <a:off x="5124450" y="906073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N20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5425455" y="9051206"/>
            <a:ext cx="157839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+ audit logs</a:t>
            </a:r>
            <a:endParaRPr lang="en-US" sz="1125" dirty="0"/>
          </a:p>
        </p:txBody>
      </p:sp>
      <p:sp>
        <p:nvSpPr>
          <p:cNvPr id="152" name="Shape 150"/>
          <p:cNvSpPr/>
          <p:nvPr/>
        </p:nvSpPr>
        <p:spPr>
          <a:xfrm>
            <a:off x="9258300" y="2697435"/>
            <a:ext cx="8267700" cy="69799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553575" y="2992710"/>
            <a:ext cx="79074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later · post-12-month</a:t>
            </a:r>
            <a:endParaRPr lang="en-US" sz="2250" dirty="0"/>
          </a:p>
        </p:txBody>
      </p:sp>
      <p:sp>
        <p:nvSpPr>
          <p:cNvPr id="154" name="Text 152"/>
          <p:cNvSpPr/>
          <p:nvPr/>
        </p:nvSpPr>
        <p:spPr>
          <a:xfrm>
            <a:off x="9553575" y="3368948"/>
            <a:ext cx="790746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DEFERRED · SCAFFOLD ONLY</a:t>
            </a:r>
            <a:endParaRPr lang="en-US" sz="975" dirty="0"/>
          </a:p>
        </p:txBody>
      </p:sp>
      <p:sp>
        <p:nvSpPr>
          <p:cNvPr id="155" name="Shape 153"/>
          <p:cNvSpPr/>
          <p:nvPr/>
        </p:nvSpPr>
        <p:spPr>
          <a:xfrm>
            <a:off x="9553575" y="3745185"/>
            <a:ext cx="3752850" cy="637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553575" y="437353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553575" y="374518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553575" y="3745185"/>
            <a:ext cx="28575" cy="637877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3296900" y="3745185"/>
            <a:ext cx="9525" cy="6378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0" name="Text 158"/>
          <p:cNvSpPr/>
          <p:nvPr/>
        </p:nvSpPr>
        <p:spPr>
          <a:xfrm>
            <a:off x="9696450" y="399030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L01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9997455" y="3980780"/>
            <a:ext cx="164336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Pinecone / Weaviate tier</a:t>
            </a:r>
            <a:endParaRPr lang="en-US" sz="1125" dirty="0"/>
          </a:p>
        </p:txBody>
      </p:sp>
      <p:sp>
        <p:nvSpPr>
          <p:cNvPr id="162" name="Shape 160"/>
          <p:cNvSpPr/>
          <p:nvPr/>
        </p:nvSpPr>
        <p:spPr>
          <a:xfrm>
            <a:off x="13477875" y="3745185"/>
            <a:ext cx="3752850" cy="637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3477875" y="437353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3477875" y="374518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3477875" y="3745185"/>
            <a:ext cx="28575" cy="637877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7221200" y="3745185"/>
            <a:ext cx="9525" cy="637877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67" name="Text 165"/>
          <p:cNvSpPr/>
          <p:nvPr/>
        </p:nvSpPr>
        <p:spPr>
          <a:xfrm>
            <a:off x="13620750" y="3990305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L02</a:t>
            </a:r>
            <a:endParaRPr lang="en-US" sz="900" dirty="0"/>
          </a:p>
        </p:txBody>
      </p:sp>
      <p:sp>
        <p:nvSpPr>
          <p:cNvPr id="168" name="Text 166"/>
          <p:cNvSpPr/>
          <p:nvPr/>
        </p:nvSpPr>
        <p:spPr>
          <a:xfrm>
            <a:off x="13921755" y="3980780"/>
            <a:ext cx="1932236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 / interview booking</a:t>
            </a:r>
            <a:endParaRPr lang="en-US" sz="1125" dirty="0"/>
          </a:p>
        </p:txBody>
      </p:sp>
      <p:sp>
        <p:nvSpPr>
          <p:cNvPr id="169" name="Shape 167"/>
          <p:cNvSpPr/>
          <p:nvPr/>
        </p:nvSpPr>
        <p:spPr>
          <a:xfrm>
            <a:off x="9553575" y="4459263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553575" y="508768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553575" y="445926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9553575" y="4459263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3296900" y="4459263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9696450" y="4704383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L03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9997455" y="4694858"/>
            <a:ext cx="1067544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Enterprise SSO</a:t>
            </a:r>
            <a:endParaRPr lang="en-US" sz="1125" dirty="0"/>
          </a:p>
        </p:txBody>
      </p:sp>
      <p:sp>
        <p:nvSpPr>
          <p:cNvPr id="176" name="Shape 174"/>
          <p:cNvSpPr/>
          <p:nvPr/>
        </p:nvSpPr>
        <p:spPr>
          <a:xfrm>
            <a:off x="13477875" y="4459263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3477875" y="5087689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3477875" y="445926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3477875" y="4459263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7221200" y="4459263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1" name="Text 179"/>
          <p:cNvSpPr/>
          <p:nvPr/>
        </p:nvSpPr>
        <p:spPr>
          <a:xfrm>
            <a:off x="13620750" y="4704383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L04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13921755" y="4694858"/>
            <a:ext cx="139853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 API / partners</a:t>
            </a:r>
            <a:endParaRPr lang="en-US" sz="1125" dirty="0"/>
          </a:p>
        </p:txBody>
      </p:sp>
      <p:sp>
        <p:nvSpPr>
          <p:cNvPr id="183" name="Shape 181"/>
          <p:cNvSpPr/>
          <p:nvPr/>
        </p:nvSpPr>
        <p:spPr>
          <a:xfrm>
            <a:off x="9553575" y="5173414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4" name="Shape 182"/>
          <p:cNvSpPr/>
          <p:nvPr/>
        </p:nvSpPr>
        <p:spPr>
          <a:xfrm>
            <a:off x="9553575" y="580184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553575" y="517341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553575" y="5173414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3296900" y="5173414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88" name="Text 186"/>
          <p:cNvSpPr/>
          <p:nvPr/>
        </p:nvSpPr>
        <p:spPr>
          <a:xfrm>
            <a:off x="9696450" y="5418534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L05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9997455" y="5409009"/>
            <a:ext cx="130879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Recruiter ATS sync</a:t>
            </a:r>
            <a:endParaRPr lang="en-US" sz="1125" dirty="0"/>
          </a:p>
        </p:txBody>
      </p:sp>
      <p:sp>
        <p:nvSpPr>
          <p:cNvPr id="190" name="Shape 188"/>
          <p:cNvSpPr/>
          <p:nvPr/>
        </p:nvSpPr>
        <p:spPr>
          <a:xfrm>
            <a:off x="13477875" y="5173414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3477875" y="580184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3477875" y="5173414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3477875" y="5173414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7221200" y="5173414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5" name="Text 193"/>
          <p:cNvSpPr/>
          <p:nvPr/>
        </p:nvSpPr>
        <p:spPr>
          <a:xfrm>
            <a:off x="13620750" y="5418534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L06</a:t>
            </a:r>
            <a:endParaRPr lang="en-US" sz="900" dirty="0"/>
          </a:p>
        </p:txBody>
      </p:sp>
      <p:sp>
        <p:nvSpPr>
          <p:cNvPr id="196" name="Text 194"/>
          <p:cNvSpPr/>
          <p:nvPr/>
        </p:nvSpPr>
        <p:spPr>
          <a:xfrm>
            <a:off x="13921755" y="5409009"/>
            <a:ext cx="173228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Multi-region active/active</a:t>
            </a:r>
            <a:endParaRPr lang="en-US" sz="1125" dirty="0"/>
          </a:p>
        </p:txBody>
      </p:sp>
      <p:sp>
        <p:nvSpPr>
          <p:cNvPr id="197" name="Shape 195"/>
          <p:cNvSpPr/>
          <p:nvPr/>
        </p:nvSpPr>
        <p:spPr>
          <a:xfrm>
            <a:off x="9553575" y="5887566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8" name="Shape 196"/>
          <p:cNvSpPr/>
          <p:nvPr/>
        </p:nvSpPr>
        <p:spPr>
          <a:xfrm>
            <a:off x="9553575" y="651599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553575" y="588756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553575" y="5887566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3296900" y="5887566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2" name="Text 200"/>
          <p:cNvSpPr/>
          <p:nvPr/>
        </p:nvSpPr>
        <p:spPr>
          <a:xfrm>
            <a:off x="9696450" y="6132686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L07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9997455" y="6123161"/>
            <a:ext cx="961876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SOC 2 Type II</a:t>
            </a:r>
            <a:endParaRPr lang="en-US" sz="1125" dirty="0"/>
          </a:p>
        </p:txBody>
      </p:sp>
      <p:sp>
        <p:nvSpPr>
          <p:cNvPr id="204" name="Shape 202"/>
          <p:cNvSpPr/>
          <p:nvPr/>
        </p:nvSpPr>
        <p:spPr>
          <a:xfrm>
            <a:off x="13477875" y="5887566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3477875" y="651599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3477875" y="588756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3477875" y="5887566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7221200" y="5887566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09" name="Text 207"/>
          <p:cNvSpPr/>
          <p:nvPr/>
        </p:nvSpPr>
        <p:spPr>
          <a:xfrm>
            <a:off x="13620750" y="6132686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L08</a:t>
            </a:r>
            <a:endParaRPr lang="en-US" sz="900" dirty="0"/>
          </a:p>
        </p:txBody>
      </p:sp>
      <p:sp>
        <p:nvSpPr>
          <p:cNvPr id="210" name="Text 208"/>
          <p:cNvSpPr/>
          <p:nvPr/>
        </p:nvSpPr>
        <p:spPr>
          <a:xfrm>
            <a:off x="13921755" y="6123161"/>
            <a:ext cx="161858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Compliance automation</a:t>
            </a:r>
            <a:endParaRPr lang="en-US" sz="1125" dirty="0"/>
          </a:p>
        </p:txBody>
      </p:sp>
      <p:sp>
        <p:nvSpPr>
          <p:cNvPr id="211" name="Shape 209"/>
          <p:cNvSpPr/>
          <p:nvPr/>
        </p:nvSpPr>
        <p:spPr>
          <a:xfrm>
            <a:off x="9553575" y="6601718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553575" y="723014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3" name="Shape 211"/>
          <p:cNvSpPr/>
          <p:nvPr/>
        </p:nvSpPr>
        <p:spPr>
          <a:xfrm>
            <a:off x="9553575" y="660171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553575" y="6601718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3296900" y="6601718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16" name="Text 214"/>
          <p:cNvSpPr/>
          <p:nvPr/>
        </p:nvSpPr>
        <p:spPr>
          <a:xfrm>
            <a:off x="9696450" y="684683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L09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9997455" y="6837313"/>
            <a:ext cx="130023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 native apps</a:t>
            </a:r>
            <a:endParaRPr lang="en-US" sz="1125" dirty="0"/>
          </a:p>
        </p:txBody>
      </p:sp>
      <p:sp>
        <p:nvSpPr>
          <p:cNvPr id="218" name="Shape 216"/>
          <p:cNvSpPr/>
          <p:nvPr/>
        </p:nvSpPr>
        <p:spPr>
          <a:xfrm>
            <a:off x="13477875" y="6601718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3477875" y="7230145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3477875" y="660171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3477875" y="6601718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7221200" y="6601718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3" name="Text 221"/>
          <p:cNvSpPr/>
          <p:nvPr/>
        </p:nvSpPr>
        <p:spPr>
          <a:xfrm>
            <a:off x="13620750" y="6846838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L10</a:t>
            </a:r>
            <a:endParaRPr lang="en-US" sz="900" dirty="0"/>
          </a:p>
        </p:txBody>
      </p:sp>
      <p:sp>
        <p:nvSpPr>
          <p:cNvPr id="224" name="Text 222"/>
          <p:cNvSpPr/>
          <p:nvPr/>
        </p:nvSpPr>
        <p:spPr>
          <a:xfrm>
            <a:off x="13921755" y="6837313"/>
            <a:ext cx="155398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Alumni / continuing-ed</a:t>
            </a:r>
            <a:endParaRPr lang="en-US" sz="1125" dirty="0"/>
          </a:p>
        </p:txBody>
      </p:sp>
      <p:sp>
        <p:nvSpPr>
          <p:cNvPr id="225" name="Shape 223"/>
          <p:cNvSpPr/>
          <p:nvPr/>
        </p:nvSpPr>
        <p:spPr>
          <a:xfrm>
            <a:off x="9553575" y="7315870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6" name="Shape 224"/>
          <p:cNvSpPr/>
          <p:nvPr/>
        </p:nvSpPr>
        <p:spPr>
          <a:xfrm>
            <a:off x="9553575" y="794429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553575" y="731587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28" name="Shape 226"/>
          <p:cNvSpPr/>
          <p:nvPr/>
        </p:nvSpPr>
        <p:spPr>
          <a:xfrm>
            <a:off x="9553575" y="7315870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3296900" y="7315870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30" name="Text 228"/>
          <p:cNvSpPr/>
          <p:nvPr/>
        </p:nvSpPr>
        <p:spPr>
          <a:xfrm>
            <a:off x="9696450" y="7560990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L11</a:t>
            </a:r>
            <a:endParaRPr lang="en-US" sz="900" dirty="0"/>
          </a:p>
        </p:txBody>
      </p:sp>
      <p:sp>
        <p:nvSpPr>
          <p:cNvPr id="231" name="Text 229"/>
          <p:cNvSpPr/>
          <p:nvPr/>
        </p:nvSpPr>
        <p:spPr>
          <a:xfrm>
            <a:off x="9997455" y="7551465"/>
            <a:ext cx="1290861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Salary / comp data</a:t>
            </a:r>
            <a:endParaRPr lang="en-US" sz="1125" dirty="0"/>
          </a:p>
        </p:txBody>
      </p:sp>
      <p:sp>
        <p:nvSpPr>
          <p:cNvPr id="232" name="Shape 230"/>
          <p:cNvSpPr/>
          <p:nvPr/>
        </p:nvSpPr>
        <p:spPr>
          <a:xfrm>
            <a:off x="13477875" y="7315870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3477875" y="7944296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3477875" y="731587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3477875" y="7315870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7221200" y="7315870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37" name="Text 235"/>
          <p:cNvSpPr/>
          <p:nvPr/>
        </p:nvSpPr>
        <p:spPr>
          <a:xfrm>
            <a:off x="13620750" y="7560990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L12</a:t>
            </a:r>
            <a:endParaRPr lang="en-US" sz="900" dirty="0"/>
          </a:p>
        </p:txBody>
      </p:sp>
      <p:sp>
        <p:nvSpPr>
          <p:cNvPr id="238" name="Text 236"/>
          <p:cNvSpPr/>
          <p:nvPr/>
        </p:nvSpPr>
        <p:spPr>
          <a:xfrm>
            <a:off x="13921755" y="7551465"/>
            <a:ext cx="97556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Tiered pricing</a:t>
            </a:r>
            <a:endParaRPr lang="en-US" sz="1125" dirty="0"/>
          </a:p>
        </p:txBody>
      </p:sp>
      <p:sp>
        <p:nvSpPr>
          <p:cNvPr id="239" name="Shape 237"/>
          <p:cNvSpPr/>
          <p:nvPr/>
        </p:nvSpPr>
        <p:spPr>
          <a:xfrm>
            <a:off x="9553575" y="8030021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0" name="Shape 238"/>
          <p:cNvSpPr/>
          <p:nvPr/>
        </p:nvSpPr>
        <p:spPr>
          <a:xfrm>
            <a:off x="9553575" y="865844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1" name="Shape 239"/>
          <p:cNvSpPr/>
          <p:nvPr/>
        </p:nvSpPr>
        <p:spPr>
          <a:xfrm>
            <a:off x="9553575" y="803002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2" name="Shape 240"/>
          <p:cNvSpPr/>
          <p:nvPr/>
        </p:nvSpPr>
        <p:spPr>
          <a:xfrm>
            <a:off x="9553575" y="8030021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3" name="Shape 241"/>
          <p:cNvSpPr/>
          <p:nvPr/>
        </p:nvSpPr>
        <p:spPr>
          <a:xfrm>
            <a:off x="13296900" y="8030021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4" name="Text 242"/>
          <p:cNvSpPr/>
          <p:nvPr/>
        </p:nvSpPr>
        <p:spPr>
          <a:xfrm>
            <a:off x="9696450" y="827514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L13</a:t>
            </a:r>
            <a:endParaRPr lang="en-US" sz="900" dirty="0"/>
          </a:p>
        </p:txBody>
      </p:sp>
      <p:sp>
        <p:nvSpPr>
          <p:cNvPr id="245" name="Text 243"/>
          <p:cNvSpPr/>
          <p:nvPr/>
        </p:nvSpPr>
        <p:spPr>
          <a:xfrm>
            <a:off x="9997455" y="8265616"/>
            <a:ext cx="1280443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Auto-apply agents</a:t>
            </a:r>
            <a:endParaRPr lang="en-US" sz="1125" dirty="0"/>
          </a:p>
        </p:txBody>
      </p:sp>
      <p:sp>
        <p:nvSpPr>
          <p:cNvPr id="246" name="Shape 244"/>
          <p:cNvSpPr/>
          <p:nvPr/>
        </p:nvSpPr>
        <p:spPr>
          <a:xfrm>
            <a:off x="13477875" y="8030021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7" name="Shape 245"/>
          <p:cNvSpPr/>
          <p:nvPr/>
        </p:nvSpPr>
        <p:spPr>
          <a:xfrm>
            <a:off x="13477875" y="8658448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3477875" y="8030021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3477875" y="8030021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7221200" y="8030021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51" name="Text 249"/>
          <p:cNvSpPr/>
          <p:nvPr/>
        </p:nvSpPr>
        <p:spPr>
          <a:xfrm>
            <a:off x="13620750" y="8275141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L14</a:t>
            </a:r>
            <a:endParaRPr lang="en-US" sz="900" dirty="0"/>
          </a:p>
        </p:txBody>
      </p:sp>
      <p:sp>
        <p:nvSpPr>
          <p:cNvPr id="252" name="Text 250"/>
          <p:cNvSpPr/>
          <p:nvPr/>
        </p:nvSpPr>
        <p:spPr>
          <a:xfrm>
            <a:off x="13921755" y="8265616"/>
            <a:ext cx="1589336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3rd-party assessments</a:t>
            </a:r>
            <a:endParaRPr lang="en-US" sz="1125" dirty="0"/>
          </a:p>
        </p:txBody>
      </p:sp>
      <p:sp>
        <p:nvSpPr>
          <p:cNvPr id="253" name="Shape 251"/>
          <p:cNvSpPr/>
          <p:nvPr/>
        </p:nvSpPr>
        <p:spPr>
          <a:xfrm>
            <a:off x="9553575" y="8744173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4" name="Shape 252"/>
          <p:cNvSpPr/>
          <p:nvPr/>
        </p:nvSpPr>
        <p:spPr>
          <a:xfrm>
            <a:off x="9553575" y="937260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55" name="Shape 253"/>
          <p:cNvSpPr/>
          <p:nvPr/>
        </p:nvSpPr>
        <p:spPr>
          <a:xfrm>
            <a:off x="9553575" y="874417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553575" y="8744173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3296900" y="8744173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58" name="Text 256"/>
          <p:cNvSpPr/>
          <p:nvPr/>
        </p:nvSpPr>
        <p:spPr>
          <a:xfrm>
            <a:off x="9696450" y="8989293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L15</a:t>
            </a:r>
            <a:endParaRPr lang="en-US" sz="900" dirty="0"/>
          </a:p>
        </p:txBody>
      </p:sp>
      <p:sp>
        <p:nvSpPr>
          <p:cNvPr id="259" name="Text 257"/>
          <p:cNvSpPr/>
          <p:nvPr/>
        </p:nvSpPr>
        <p:spPr>
          <a:xfrm>
            <a:off x="9997455" y="8979768"/>
            <a:ext cx="158814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International expansion</a:t>
            </a:r>
            <a:endParaRPr lang="en-US" sz="1125" dirty="0"/>
          </a:p>
        </p:txBody>
      </p:sp>
      <p:sp>
        <p:nvSpPr>
          <p:cNvPr id="260" name="Shape 258"/>
          <p:cNvSpPr/>
          <p:nvPr/>
        </p:nvSpPr>
        <p:spPr>
          <a:xfrm>
            <a:off x="13477875" y="8744173"/>
            <a:ext cx="3752850" cy="63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1" name="Shape 259"/>
          <p:cNvSpPr/>
          <p:nvPr/>
        </p:nvSpPr>
        <p:spPr>
          <a:xfrm>
            <a:off x="13477875" y="9372600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2" name="Shape 260"/>
          <p:cNvSpPr/>
          <p:nvPr/>
        </p:nvSpPr>
        <p:spPr>
          <a:xfrm>
            <a:off x="13477875" y="8744173"/>
            <a:ext cx="3752850" cy="9525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3477875" y="8744173"/>
            <a:ext cx="28575" cy="6379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4" name="Shape 262"/>
          <p:cNvSpPr/>
          <p:nvPr/>
        </p:nvSpPr>
        <p:spPr>
          <a:xfrm>
            <a:off x="17221200" y="8744173"/>
            <a:ext cx="9525" cy="637952"/>
          </a:xfrm>
          <a:prstGeom prst="rect">
            <a:avLst/>
          </a:prstGeom>
          <a:solidFill>
            <a:srgbClr val="D4D8E3"/>
          </a:solidFill>
          <a:ln/>
        </p:spPr>
      </p:sp>
      <p:sp>
        <p:nvSpPr>
          <p:cNvPr id="265" name="Text 263"/>
          <p:cNvSpPr/>
          <p:nvPr/>
        </p:nvSpPr>
        <p:spPr>
          <a:xfrm>
            <a:off x="13620750" y="8989293"/>
            <a:ext cx="2819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L16</a:t>
            </a:r>
            <a:endParaRPr lang="en-US" sz="900" dirty="0"/>
          </a:p>
        </p:txBody>
      </p:sp>
      <p:sp>
        <p:nvSpPr>
          <p:cNvPr id="266" name="Text 264"/>
          <p:cNvSpPr/>
          <p:nvPr/>
        </p:nvSpPr>
        <p:spPr>
          <a:xfrm>
            <a:off x="13921755" y="8979768"/>
            <a:ext cx="153776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Enterprise admin tools</a:t>
            </a:r>
            <a:endParaRPr lang="en-US" sz="1125" dirty="0"/>
          </a:p>
        </p:txBody>
      </p:sp>
      <p:sp>
        <p:nvSpPr>
          <p:cNvPr id="267" name="Shape 265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68" name="Text 266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269" name="Text 267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321401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SECURITY, PRIVACY &amp; COMPLIANCE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890998" y="614363"/>
            <a:ext cx="271405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RBAC · CONSENT · FERPA-AWARE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Privacy is the architecture, not a setting.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Raw student data never leaves the consent envelope. Universities only see aggregate cubes computed against k-anon thresholds; recruiters only see profiles where the student has opted 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97366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4787205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97366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4888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324036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00125" y="346419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.edu &amp; Recruiter Verification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00125" y="381089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Domain-bound student identity · company-bound recruiter identity · artifact verification.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0125" y="4344293"/>
            <a:ext cx="775022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5850" y="4382393"/>
            <a:ext cx="679772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4995863" y="297366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95863" y="4787205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4995863" y="297366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22" name="Shape 20"/>
          <p:cNvSpPr/>
          <p:nvPr/>
        </p:nvSpPr>
        <p:spPr>
          <a:xfrm>
            <a:off x="4995863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8750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4" name="Text 22"/>
          <p:cNvSpPr/>
          <p:nvPr/>
        </p:nvSpPr>
        <p:spPr>
          <a:xfrm>
            <a:off x="5233988" y="324036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SC-02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33988" y="346419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Role-Based Access Control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233988" y="381089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primary roles — student, recruiter, university, internal admin — enforced at API + DB layers.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33988" y="4344293"/>
            <a:ext cx="473273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9713" y="4382393"/>
            <a:ext cx="378023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RBAC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9229725" y="297366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29725" y="4787205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1" name="Shape 29"/>
          <p:cNvSpPr/>
          <p:nvPr/>
        </p:nvSpPr>
        <p:spPr>
          <a:xfrm>
            <a:off x="9229725" y="297366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2" name="Shape 30"/>
          <p:cNvSpPr/>
          <p:nvPr/>
        </p:nvSpPr>
        <p:spPr>
          <a:xfrm>
            <a:off x="9229725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82613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4" name="Text 32"/>
          <p:cNvSpPr/>
          <p:nvPr/>
        </p:nvSpPr>
        <p:spPr>
          <a:xfrm>
            <a:off x="9467850" y="324036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SC-03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467850" y="346419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Consent Manager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467850" y="381089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Per-scope visibility · explicit recruiter discovery opt-in · revocation flows · UI mirrors policy.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67850" y="4344293"/>
            <a:ext cx="699567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53575" y="4382393"/>
            <a:ext cx="604317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CONSENT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3463588" y="297366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3463588" y="4787205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" name="Shape 39"/>
          <p:cNvSpPr/>
          <p:nvPr/>
        </p:nvSpPr>
        <p:spPr>
          <a:xfrm>
            <a:off x="13463588" y="297366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42" name="Shape 40"/>
          <p:cNvSpPr/>
          <p:nvPr/>
        </p:nvSpPr>
        <p:spPr>
          <a:xfrm>
            <a:off x="13463588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Shape 41"/>
          <p:cNvSpPr/>
          <p:nvPr/>
        </p:nvSpPr>
        <p:spPr>
          <a:xfrm>
            <a:off x="17516475" y="297366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4" name="Text 42"/>
          <p:cNvSpPr/>
          <p:nvPr/>
        </p:nvSpPr>
        <p:spPr>
          <a:xfrm>
            <a:off x="13701713" y="324036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SC-04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3701713" y="346419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PII Vault &amp; Encryption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701713" y="381089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Field-level encryption · KMS-managed keys · separation of audit and operational reads.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3701713" y="4344293"/>
            <a:ext cx="925860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87438" y="4382393"/>
            <a:ext cx="83061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ENCRYPTION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762000" y="496818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762000" y="6781726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" y="496818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52" name="Shape 50"/>
          <p:cNvSpPr/>
          <p:nvPr/>
        </p:nvSpPr>
        <p:spPr>
          <a:xfrm>
            <a:off x="762000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3" name="Shape 51"/>
          <p:cNvSpPr/>
          <p:nvPr/>
        </p:nvSpPr>
        <p:spPr>
          <a:xfrm>
            <a:off x="4814888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4" name="Text 52"/>
          <p:cNvSpPr/>
          <p:nvPr/>
        </p:nvSpPr>
        <p:spPr>
          <a:xfrm>
            <a:off x="1000125" y="523488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SC-05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000125" y="545871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Anonymization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000125" y="580541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k-anonymity thresholds · cohort floors · suppression rules · quarterly anonymization tests.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00125" y="6338813"/>
            <a:ext cx="624111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85850" y="6376913"/>
            <a:ext cx="528861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K-ANON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4995863" y="496818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4995863" y="6781726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1" name="Shape 59"/>
          <p:cNvSpPr/>
          <p:nvPr/>
        </p:nvSpPr>
        <p:spPr>
          <a:xfrm>
            <a:off x="4995863" y="496818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62" name="Shape 60"/>
          <p:cNvSpPr/>
          <p:nvPr/>
        </p:nvSpPr>
        <p:spPr>
          <a:xfrm>
            <a:off x="4995863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3" name="Shape 61"/>
          <p:cNvSpPr/>
          <p:nvPr/>
        </p:nvSpPr>
        <p:spPr>
          <a:xfrm>
            <a:off x="9048750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4" name="Text 62"/>
          <p:cNvSpPr/>
          <p:nvPr/>
        </p:nvSpPr>
        <p:spPr>
          <a:xfrm>
            <a:off x="5233988" y="523488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SC-06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5233988" y="545871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 Log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5233988" y="580541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Append-only · WORM-style ledger · queryable · who-what-when on every read of student data.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233988" y="6338813"/>
            <a:ext cx="548655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19713" y="6376913"/>
            <a:ext cx="453405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9229725" y="496818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9229725" y="6781726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1" name="Shape 69"/>
          <p:cNvSpPr/>
          <p:nvPr/>
        </p:nvSpPr>
        <p:spPr>
          <a:xfrm>
            <a:off x="9229725" y="496818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72" name="Shape 70"/>
          <p:cNvSpPr/>
          <p:nvPr/>
        </p:nvSpPr>
        <p:spPr>
          <a:xfrm>
            <a:off x="9229725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3" name="Shape 71"/>
          <p:cNvSpPr/>
          <p:nvPr/>
        </p:nvSpPr>
        <p:spPr>
          <a:xfrm>
            <a:off x="13282613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4" name="Text 72"/>
          <p:cNvSpPr/>
          <p:nvPr/>
        </p:nvSpPr>
        <p:spPr>
          <a:xfrm>
            <a:off x="9467850" y="523488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SC-07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9467850" y="545871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Retention &amp; Right-to-Erase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9467850" y="580541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TTL on every data class · student-driven erasure · cascading deletion across vector store.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467850" y="6338813"/>
            <a:ext cx="850404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53575" y="6376913"/>
            <a:ext cx="755154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RETENTION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13463588" y="4968180"/>
            <a:ext cx="4062412" cy="1823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13463588" y="6781726"/>
            <a:ext cx="4062412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1" name="Shape 79"/>
          <p:cNvSpPr/>
          <p:nvPr/>
        </p:nvSpPr>
        <p:spPr>
          <a:xfrm>
            <a:off x="13463588" y="4968180"/>
            <a:ext cx="4062412" cy="381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82" name="Shape 80"/>
          <p:cNvSpPr/>
          <p:nvPr/>
        </p:nvSpPr>
        <p:spPr>
          <a:xfrm>
            <a:off x="13463588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3" name="Shape 81"/>
          <p:cNvSpPr/>
          <p:nvPr/>
        </p:nvSpPr>
        <p:spPr>
          <a:xfrm>
            <a:off x="17516475" y="4968180"/>
            <a:ext cx="9525" cy="182307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4" name="Text 82"/>
          <p:cNvSpPr/>
          <p:nvPr/>
        </p:nvSpPr>
        <p:spPr>
          <a:xfrm>
            <a:off x="13701713" y="5234880"/>
            <a:ext cx="36937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SC-08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13701713" y="5458718"/>
            <a:ext cx="3693747" cy="28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FERPA-Aware Posture</a:t>
            </a:r>
            <a:endParaRPr lang="en-US" sz="1650" dirty="0"/>
          </a:p>
        </p:txBody>
      </p:sp>
      <p:sp>
        <p:nvSpPr>
          <p:cNvPr id="86" name="Text 84"/>
          <p:cNvSpPr/>
          <p:nvPr/>
        </p:nvSpPr>
        <p:spPr>
          <a:xfrm>
            <a:off x="13701713" y="5805413"/>
            <a:ext cx="3693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Institutional DPA template · controls aligned to FERPA · default-private visa disclosure.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3701713" y="6338813"/>
            <a:ext cx="548655" cy="214313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3787438" y="6376913"/>
            <a:ext cx="453405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FERPA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762000" y="8648700"/>
            <a:ext cx="16764000" cy="10287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90" name="Text 88"/>
          <p:cNvSpPr/>
          <p:nvPr/>
        </p:nvSpPr>
        <p:spPr>
          <a:xfrm>
            <a:off x="1066800" y="9079706"/>
            <a:ext cx="16612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PRIVACY BOUNDARY</a:t>
            </a:r>
            <a:endParaRPr lang="en-US" sz="975" dirty="0"/>
          </a:p>
        </p:txBody>
      </p:sp>
      <p:sp>
        <p:nvSpPr>
          <p:cNvPr id="91" name="Text 89"/>
          <p:cNvSpPr/>
          <p:nvPr/>
        </p:nvSpPr>
        <p:spPr>
          <a:xfrm>
            <a:off x="2937570" y="8877300"/>
            <a:ext cx="147121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Three-sided does </a:t>
            </a:r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mean three copies of the data. Aggregates, recruiter views, and student profiles are computed views over the same consent-gated source — with audit trails on every traversal.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93" name="Text 91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94" name="Text 92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89263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REGISTER &amp; MITIGATIONS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832038" y="614363"/>
            <a:ext cx="17701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REVIEWED QUARTERLY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Eyes-open risk, named owners, written mitigations.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top eight tracked risks for the 12-month plan. Reviewed at every gate; full register in the architecture document.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40285"/>
            <a:ext cx="16764000" cy="7037115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525" y="2649810"/>
            <a:ext cx="666750" cy="419100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1" name="Shape 9"/>
          <p:cNvSpPr/>
          <p:nvPr/>
        </p:nvSpPr>
        <p:spPr>
          <a:xfrm>
            <a:off x="771525" y="3059385"/>
            <a:ext cx="66675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2" name="Text 10"/>
          <p:cNvSpPr/>
          <p:nvPr/>
        </p:nvSpPr>
        <p:spPr>
          <a:xfrm>
            <a:off x="923925" y="2783160"/>
            <a:ext cx="4381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8275" y="2649810"/>
            <a:ext cx="6590928" cy="419100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38275" y="3059385"/>
            <a:ext cx="6590928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5" name="Text 13"/>
          <p:cNvSpPr/>
          <p:nvPr/>
        </p:nvSpPr>
        <p:spPr>
          <a:xfrm>
            <a:off x="1590675" y="2783160"/>
            <a:ext cx="64838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29203" y="2649810"/>
            <a:ext cx="999753" cy="419100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029203" y="3059385"/>
            <a:ext cx="999753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8" name="Text 16"/>
          <p:cNvSpPr/>
          <p:nvPr/>
        </p:nvSpPr>
        <p:spPr>
          <a:xfrm>
            <a:off x="8181603" y="2783160"/>
            <a:ext cx="7711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SEVERITY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28956" y="2649810"/>
            <a:ext cx="8487519" cy="419100"/>
          </a:xfrm>
          <a:prstGeom prst="rect">
            <a:avLst/>
          </a:prstGeom>
          <a:solidFill>
            <a:srgbClr val="FBFBFD"/>
          </a:solidFill>
          <a:ln/>
        </p:spPr>
      </p:sp>
      <p:sp>
        <p:nvSpPr>
          <p:cNvPr id="20" name="Shape 18"/>
          <p:cNvSpPr/>
          <p:nvPr/>
        </p:nvSpPr>
        <p:spPr>
          <a:xfrm>
            <a:off x="9028956" y="3059385"/>
            <a:ext cx="8487519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1" name="Text 19"/>
          <p:cNvSpPr/>
          <p:nvPr/>
        </p:nvSpPr>
        <p:spPr>
          <a:xfrm>
            <a:off x="9181356" y="2783160"/>
            <a:ext cx="84373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1525" y="35927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" name="Text 21"/>
          <p:cNvSpPr/>
          <p:nvPr/>
        </p:nvSpPr>
        <p:spPr>
          <a:xfrm>
            <a:off x="923925" y="32022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438275" y="35927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5" name="Text 23"/>
          <p:cNvSpPr/>
          <p:nvPr/>
        </p:nvSpPr>
        <p:spPr>
          <a:xfrm>
            <a:off x="1590675" y="32022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hallucinated experience inflates resumes / cover letters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29203" y="35927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1603" y="3216548"/>
            <a:ext cx="500658" cy="2476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7328" y="3254648"/>
            <a:ext cx="405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28956" y="35927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0" name="Text 28"/>
          <p:cNvSpPr/>
          <p:nvPr/>
        </p:nvSpPr>
        <p:spPr>
          <a:xfrm>
            <a:off x="9181356" y="32022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Grounded generation · evidence binding · approval queue gate · golden eval set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1525" y="41261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2" name="Text 30"/>
          <p:cNvSpPr/>
          <p:nvPr/>
        </p:nvSpPr>
        <p:spPr>
          <a:xfrm>
            <a:off x="923925" y="37356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438275" y="41261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4" name="Text 32"/>
          <p:cNvSpPr/>
          <p:nvPr/>
        </p:nvSpPr>
        <p:spPr>
          <a:xfrm>
            <a:off x="1590675" y="37356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Cold-start: too few recruiters to match supply at M9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29203" y="41261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81603" y="3749948"/>
            <a:ext cx="500658" cy="2476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7328" y="3788048"/>
            <a:ext cx="405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28956" y="41261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9" name="Text 37"/>
          <p:cNvSpPr/>
          <p:nvPr/>
        </p:nvSpPr>
        <p:spPr>
          <a:xfrm>
            <a:off x="9181356" y="37356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Design-partner program · vertical launch (CS interns) · hand-curated invitations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1525" y="46595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25" y="42690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438275" y="46595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Text 41"/>
          <p:cNvSpPr/>
          <p:nvPr/>
        </p:nvSpPr>
        <p:spPr>
          <a:xfrm>
            <a:off x="1590675" y="42690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Privacy regression — student data exposed via aggregates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29203" y="46595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81603" y="4283348"/>
            <a:ext cx="500658" cy="2476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67328" y="4321448"/>
            <a:ext cx="405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028956" y="46595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8" name="Text 46"/>
          <p:cNvSpPr/>
          <p:nvPr/>
        </p:nvSpPr>
        <p:spPr>
          <a:xfrm>
            <a:off x="9181356" y="42690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k-anon thresholds · cohort floors · suppression · quarterly tests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1525" y="51929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0" name="Text 48"/>
          <p:cNvSpPr/>
          <p:nvPr/>
        </p:nvSpPr>
        <p:spPr>
          <a:xfrm>
            <a:off x="923925" y="48024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438275" y="51929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2" name="Text 50"/>
          <p:cNvSpPr/>
          <p:nvPr/>
        </p:nvSpPr>
        <p:spPr>
          <a:xfrm>
            <a:off x="1590675" y="48024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FERPA / institutional agreements block university launch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29203" y="51929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4" name="Shape 52"/>
          <p:cNvSpPr/>
          <p:nvPr/>
        </p:nvSpPr>
        <p:spPr>
          <a:xfrm>
            <a:off x="8181603" y="4816748"/>
            <a:ext cx="418356" cy="247650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67328" y="4854848"/>
            <a:ext cx="3231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240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28956" y="51929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7" name="Text 55"/>
          <p:cNvSpPr/>
          <p:nvPr/>
        </p:nvSpPr>
        <p:spPr>
          <a:xfrm>
            <a:off x="9181356" y="48024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Counsel review at M1 · institutional DPA template · opt-in consent at student level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71525" y="57263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9" name="Text 57"/>
          <p:cNvSpPr/>
          <p:nvPr/>
        </p:nvSpPr>
        <p:spPr>
          <a:xfrm>
            <a:off x="923925" y="53358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R-06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438275" y="57263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1" name="Text 59"/>
          <p:cNvSpPr/>
          <p:nvPr/>
        </p:nvSpPr>
        <p:spPr>
          <a:xfrm>
            <a:off x="1590675" y="53358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source TOS / scraping limits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029203" y="57263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3" name="Shape 61"/>
          <p:cNvSpPr/>
          <p:nvPr/>
        </p:nvSpPr>
        <p:spPr>
          <a:xfrm>
            <a:off x="8181603" y="5350148"/>
            <a:ext cx="418356" cy="247650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67328" y="5388248"/>
            <a:ext cx="3231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240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28956" y="57263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6" name="Text 64"/>
          <p:cNvSpPr/>
          <p:nvPr/>
        </p:nvSpPr>
        <p:spPr>
          <a:xfrm>
            <a:off x="9181356" y="53358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Licensed APIs first (Adzuna/JSearch) · manual paste fallback · rate-limited workers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71525" y="62597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8" name="Text 66"/>
          <p:cNvSpPr/>
          <p:nvPr/>
        </p:nvSpPr>
        <p:spPr>
          <a:xfrm>
            <a:off x="923925" y="58692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R-08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438275" y="62597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0" name="Text 68"/>
          <p:cNvSpPr/>
          <p:nvPr/>
        </p:nvSpPr>
        <p:spPr>
          <a:xfrm>
            <a:off x="1590675" y="58692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Visa-status mishandling harms international students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29203" y="62597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2" name="Shape 70"/>
          <p:cNvSpPr/>
          <p:nvPr/>
        </p:nvSpPr>
        <p:spPr>
          <a:xfrm>
            <a:off x="8181603" y="5883548"/>
            <a:ext cx="500658" cy="2476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67328" y="5921648"/>
            <a:ext cx="405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028956" y="62597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5" name="Text 73"/>
          <p:cNvSpPr/>
          <p:nvPr/>
        </p:nvSpPr>
        <p:spPr>
          <a:xfrm>
            <a:off x="9181356" y="58692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Student-controlled disclosure · default-private · audited policy-aware ranking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71525" y="6793185"/>
            <a:ext cx="66675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7" name="Text 75"/>
          <p:cNvSpPr/>
          <p:nvPr/>
        </p:nvSpPr>
        <p:spPr>
          <a:xfrm>
            <a:off x="923925" y="6402660"/>
            <a:ext cx="438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R-10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438275" y="6793185"/>
            <a:ext cx="6590928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79" name="Text 77"/>
          <p:cNvSpPr/>
          <p:nvPr/>
        </p:nvSpPr>
        <p:spPr>
          <a:xfrm>
            <a:off x="1590675" y="6402660"/>
            <a:ext cx="6483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Scope creep — recruiter or uni features bleed into student core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029203" y="6793185"/>
            <a:ext cx="999753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1" name="Shape 79"/>
          <p:cNvSpPr/>
          <p:nvPr/>
        </p:nvSpPr>
        <p:spPr>
          <a:xfrm>
            <a:off x="8181603" y="6416948"/>
            <a:ext cx="418356" cy="247650"/>
          </a:xfrm>
          <a:prstGeom prst="rect">
            <a:avLst/>
          </a:prstGeom>
          <a:solidFill>
            <a:srgbClr val="FDF3E3"/>
          </a:solidFill>
          <a:ln w="9525">
            <a:solidFill>
              <a:srgbClr val="F3DFB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67328" y="6455048"/>
            <a:ext cx="3231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240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028956" y="6793185"/>
            <a:ext cx="8487519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84" name="Text 82"/>
          <p:cNvSpPr/>
          <p:nvPr/>
        </p:nvSpPr>
        <p:spPr>
          <a:xfrm>
            <a:off x="9181356" y="6402660"/>
            <a:ext cx="8437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Hard gate review · feature freeze per month · build-now-vs-later contract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923925" y="6936060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R-11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590675" y="6936060"/>
            <a:ext cx="64838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Solo execution risk if team plan slips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181603" y="6950348"/>
            <a:ext cx="500658" cy="247650"/>
          </a:xfrm>
          <a:prstGeom prst="rect">
            <a:avLst/>
          </a:prstGeom>
          <a:solidFill>
            <a:srgbClr val="FCEAEE"/>
          </a:solidFill>
          <a:ln w="9525">
            <a:solidFill>
              <a:srgbClr val="F4CF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67328" y="6988448"/>
            <a:ext cx="405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9F12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181356" y="6936060"/>
            <a:ext cx="84373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18–24mo fallback plan · pre-defined scope-cut tree · AI-assist tooling baseline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91" name="Text 89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92" name="Text 90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289263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&amp; RESOURCE ASSUMPTIONS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643845" y="614363"/>
            <a:ext cx="195835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ROLES · WPI MENTOR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this plan costs.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focused team with AI-assisted dev tooling. Without that footprint the same scope is realistic over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18–24 months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a solo builder.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40285"/>
            <a:ext cx="3215580" cy="1853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4484191"/>
            <a:ext cx="321558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640285"/>
            <a:ext cx="3215580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3968055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2906985"/>
            <a:ext cx="28215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00125" y="3130823"/>
            <a:ext cx="282151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/ ML + Backend Lead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000125" y="3466058"/>
            <a:ext cx="282151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Owns architecture, AI services, prompt registry, eval harness, model gateway.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0125" y="4012704"/>
            <a:ext cx="910605" cy="242888"/>
          </a:xfrm>
          <a:prstGeom prst="rect">
            <a:avLst/>
          </a:prstGeom>
          <a:solidFill>
            <a:srgbClr val="F3F4F8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5375" y="4060329"/>
            <a:ext cx="7963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49030" y="2640285"/>
            <a:ext cx="3215655" cy="1853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49030" y="4484191"/>
            <a:ext cx="321565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49030" y="2640285"/>
            <a:ext cx="3215655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4149030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5160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7155" y="2906985"/>
            <a:ext cx="28215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02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387155" y="3130823"/>
            <a:ext cx="282158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 / Product Designer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4387155" y="3466058"/>
            <a:ext cx="282158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system, all student/recruiter/uni surfaces, design tokens, A11y, polish.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7155" y="4012704"/>
            <a:ext cx="910605" cy="242888"/>
          </a:xfrm>
          <a:prstGeom prst="rect">
            <a:avLst/>
          </a:prstGeom>
          <a:solidFill>
            <a:srgbClr val="F3F4F8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2405" y="4060329"/>
            <a:ext cx="7963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36135" y="2640285"/>
            <a:ext cx="3215655" cy="1853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536135" y="4484191"/>
            <a:ext cx="321565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36135" y="2640285"/>
            <a:ext cx="3215655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36135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42265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4260" y="2906985"/>
            <a:ext cx="28215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03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7774260" y="3130823"/>
            <a:ext cx="282158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Full-stack / Backend Eng.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7774260" y="3466058"/>
            <a:ext cx="282158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 services, integrations, billing, jobs, queues, tracker, search.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4260" y="4012704"/>
            <a:ext cx="910605" cy="242888"/>
          </a:xfrm>
          <a:prstGeom prst="rect">
            <a:avLst/>
          </a:prstGeom>
          <a:solidFill>
            <a:srgbClr val="F3F4F8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9510" y="4060329"/>
            <a:ext cx="7963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FULL-TIME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923240" y="2640285"/>
            <a:ext cx="3215655" cy="1853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23240" y="4484191"/>
            <a:ext cx="321565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23240" y="2640285"/>
            <a:ext cx="3215655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23240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3" name="Shape 41"/>
          <p:cNvSpPr/>
          <p:nvPr/>
        </p:nvSpPr>
        <p:spPr>
          <a:xfrm>
            <a:off x="14129370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4" name="Text 42"/>
          <p:cNvSpPr/>
          <p:nvPr/>
        </p:nvSpPr>
        <p:spPr>
          <a:xfrm>
            <a:off x="11161365" y="2906985"/>
            <a:ext cx="28215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04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1161365" y="3130823"/>
            <a:ext cx="282158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 / Business / Outreach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1161365" y="3466058"/>
            <a:ext cx="282158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Validation, beta program, recruiter ICP, university motion, GTM.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1161365" y="4012704"/>
            <a:ext cx="910605" cy="242888"/>
          </a:xfrm>
          <a:prstGeom prst="rect">
            <a:avLst/>
          </a:prstGeom>
          <a:solidFill>
            <a:srgbClr val="F3F4F8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56615" y="4060329"/>
            <a:ext cx="7963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4310345" y="2640285"/>
            <a:ext cx="3215655" cy="1853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4310345" y="4484191"/>
            <a:ext cx="321565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1" name="Shape 49"/>
          <p:cNvSpPr/>
          <p:nvPr/>
        </p:nvSpPr>
        <p:spPr>
          <a:xfrm>
            <a:off x="14310345" y="2640285"/>
            <a:ext cx="3215655" cy="38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14310345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6475" y="2640285"/>
            <a:ext cx="9525" cy="1853431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4" name="Text 52"/>
          <p:cNvSpPr/>
          <p:nvPr/>
        </p:nvSpPr>
        <p:spPr>
          <a:xfrm>
            <a:off x="14548470" y="2906985"/>
            <a:ext cx="28215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05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4548470" y="3130823"/>
            <a:ext cx="282158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Mentor / Advisor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4548470" y="3466058"/>
            <a:ext cx="282158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WPI mentor, technical advisors, occasional product / privacy review.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4548470" y="4012704"/>
            <a:ext cx="910605" cy="242888"/>
          </a:xfrm>
          <a:prstGeom prst="rect">
            <a:avLst/>
          </a:prstGeom>
          <a:solidFill>
            <a:srgbClr val="F3F4F8"/>
          </a:solidFill>
          <a:ln w="9525">
            <a:solidFill>
              <a:srgbClr val="D4D8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643720" y="4060329"/>
            <a:ext cx="7963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PART-TIME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2000" y="4722316"/>
            <a:ext cx="8296275" cy="17124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9175" y="4941391"/>
            <a:ext cx="8015383" cy="244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AI-ASSISTED DEV TOOLING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19175" y="5248052"/>
            <a:ext cx="7929539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Code · ChatGPT · Cursor · automated test generation. Treated as a force multiplier on Roles 01–03, not a replacement for them. Cost-tracked as a line item.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29725" y="4722316"/>
            <a:ext cx="8296275" cy="17124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86900" y="4941391"/>
            <a:ext cx="8015383" cy="244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SOLO-BUILDER FALLBACK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486900" y="5248052"/>
            <a:ext cx="21412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scope realistically takes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486900" y="5460429"/>
            <a:ext cx="8015383" cy="244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spc="14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18–24 MONTHS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9486900" y="5767090"/>
            <a:ext cx="7913520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Cut order: defer recruiter trust → defer reference graph → defer university analytics → reduce interview engine to v0.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8" name="Text 66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16884551" y="9815513"/>
            <a:ext cx="7176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919162"/>
            <a:ext cx="16764000" cy="9525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9606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71550" y="609600"/>
            <a:ext cx="2842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0F17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2962" y="609600"/>
            <a:ext cx="11163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832038" y="614363"/>
            <a:ext cx="17701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PLAN TO PILOT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1271588"/>
            <a:ext cx="1726692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Next 90 days.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762000" y="1944960"/>
            <a:ext cx="1373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concrete sequence to move from architecture document to validated prototype with WPI mentor support.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697435"/>
            <a:ext cx="9645625" cy="6979965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5375" y="3030810"/>
            <a:ext cx="92482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Action plan · Months 1–3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95375" y="4223817"/>
            <a:ext cx="89788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5375" y="3701132"/>
            <a:ext cx="6477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38325" y="3630885"/>
            <a:ext cx="74806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Ship technical blueprint &amp; clickable mockups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838325" y="3864248"/>
            <a:ext cx="74806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Schema, API contracts, prompt registry, security baseline. Sign off with WPI mentor.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272588" y="3720182"/>
            <a:ext cx="801663" cy="261937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7363" y="3777332"/>
            <a:ext cx="66831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5375" y="5112023"/>
            <a:ext cx="89788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5375" y="4589338"/>
            <a:ext cx="6477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38325" y="4519092"/>
            <a:ext cx="74806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 15–20 student interviews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838325" y="4752454"/>
            <a:ext cx="74806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Validate readiness, proof, and visa pain points. Convert top 10 into beta cohort.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272588" y="4608388"/>
            <a:ext cx="801663" cy="261937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7363" y="4665538"/>
            <a:ext cx="66831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5375" y="6000229"/>
            <a:ext cx="89788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5375" y="5477545"/>
            <a:ext cx="6477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38325" y="5407298"/>
            <a:ext cx="74806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 up student core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838325" y="5640660"/>
            <a:ext cx="74806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.edu signup · profile · upload · dashboard skeleton. Ship onboarding to first 10 students.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272588" y="5496595"/>
            <a:ext cx="801663" cy="261937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7363" y="5553745"/>
            <a:ext cx="66831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5375" y="6888435"/>
            <a:ext cx="8978875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30" name="Text 28"/>
          <p:cNvSpPr/>
          <p:nvPr/>
        </p:nvSpPr>
        <p:spPr>
          <a:xfrm>
            <a:off x="1095375" y="6365751"/>
            <a:ext cx="6477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38325" y="6295504"/>
            <a:ext cx="748069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First AI workflow live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838325" y="6528867"/>
            <a:ext cx="74806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score · tailored bullets · cover letter · approval queue. Confirm usefulness with 10 betas.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9272588" y="6384801"/>
            <a:ext cx="801663" cy="261937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7363" y="6441951"/>
            <a:ext cx="66831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375" y="7253957"/>
            <a:ext cx="6477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838325" y="7183710"/>
            <a:ext cx="730647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 teammates &amp; advisors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838325" y="7417073"/>
            <a:ext cx="730647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5A647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 designer · backend engineer · product/outreach. Confirm WPI mentor cadence.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9103444" y="7273007"/>
            <a:ext cx="970806" cy="261937"/>
          </a:xfrm>
          <a:prstGeom prst="rect">
            <a:avLst/>
          </a:prstGeom>
          <a:ln w="9525">
            <a:solidFill>
              <a:srgbClr val="D4D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08219" y="7330157"/>
            <a:ext cx="83745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1–3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636225" y="2697435"/>
            <a:ext cx="6889700" cy="2212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36225" y="4900240"/>
            <a:ext cx="68897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36225" y="2697435"/>
            <a:ext cx="6889700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36225" y="2697435"/>
            <a:ext cx="9525" cy="221233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4" name="Shape 42"/>
          <p:cNvSpPr/>
          <p:nvPr/>
        </p:nvSpPr>
        <p:spPr>
          <a:xfrm>
            <a:off x="17516401" y="2697435"/>
            <a:ext cx="9525" cy="221233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45" name="Text 43"/>
          <p:cNvSpPr/>
          <p:nvPr/>
        </p:nvSpPr>
        <p:spPr>
          <a:xfrm>
            <a:off x="10874350" y="2964135"/>
            <a:ext cx="66058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NEED FROM WPI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0874350" y="3187973"/>
            <a:ext cx="66058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Mentor support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0944200" y="3521348"/>
            <a:ext cx="64198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Monthly architecture review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Career-center advisor intro for §10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Privacy / FERPA counsel intro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Beta-cohort recruiting via student orgs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10636225" y="5081215"/>
            <a:ext cx="6889700" cy="22124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36225" y="7284095"/>
            <a:ext cx="68897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36225" y="5081215"/>
            <a:ext cx="68897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36225" y="5081215"/>
            <a:ext cx="9525" cy="22124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2" name="Shape 50"/>
          <p:cNvSpPr/>
          <p:nvPr/>
        </p:nvSpPr>
        <p:spPr>
          <a:xfrm>
            <a:off x="17516401" y="5081215"/>
            <a:ext cx="9525" cy="2212404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3" name="Text 51"/>
          <p:cNvSpPr/>
          <p:nvPr/>
        </p:nvSpPr>
        <p:spPr>
          <a:xfrm>
            <a:off x="10874350" y="5347915"/>
            <a:ext cx="66058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NEED FROM BETA USERS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0874350" y="5571753"/>
            <a:ext cx="66058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20–30 .edu students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0944200" y="5905128"/>
            <a:ext cx="64198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Active job-seekers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Mix of CS / engineering / business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Mix of US / international students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Willing to share outcomes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10636225" y="7465070"/>
            <a:ext cx="6889700" cy="2212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36225" y="9667875"/>
            <a:ext cx="68897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36225" y="7465070"/>
            <a:ext cx="68897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9" name="Shape 57"/>
          <p:cNvSpPr/>
          <p:nvPr/>
        </p:nvSpPr>
        <p:spPr>
          <a:xfrm>
            <a:off x="10636225" y="7465070"/>
            <a:ext cx="9525" cy="221233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0" name="Shape 58"/>
          <p:cNvSpPr/>
          <p:nvPr/>
        </p:nvSpPr>
        <p:spPr>
          <a:xfrm>
            <a:off x="17516401" y="7465070"/>
            <a:ext cx="9525" cy="2212330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1" name="Text 59"/>
          <p:cNvSpPr/>
          <p:nvPr/>
        </p:nvSpPr>
        <p:spPr>
          <a:xfrm>
            <a:off x="10874350" y="7731770"/>
            <a:ext cx="66058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TEAMMATE ROLES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10874350" y="7955607"/>
            <a:ext cx="66058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Building the team</a:t>
            </a:r>
            <a:endParaRPr lang="en-US" sz="1575" dirty="0"/>
          </a:p>
        </p:txBody>
      </p:sp>
      <p:sp>
        <p:nvSpPr>
          <p:cNvPr id="63" name="Text 61"/>
          <p:cNvSpPr/>
          <p:nvPr/>
        </p:nvSpPr>
        <p:spPr>
          <a:xfrm>
            <a:off x="10944200" y="8288982"/>
            <a:ext cx="6419800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 / product designer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Full-stack / backend engineer</a:t>
            </a:r>
            <a:endParaRPr lang="en-US" sz="1125" dirty="0"/>
          </a:p>
          <a:p>
            <a:pPr algn="l" marL="101600" indent="-101600">
              <a:lnSpc>
                <a:spcPct val="165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1F2A4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 / business / outreach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762000" y="9672638"/>
            <a:ext cx="16764000" cy="9525"/>
          </a:xfrm>
          <a:prstGeom prst="rect">
            <a:avLst/>
          </a:prstGeom>
          <a:solidFill>
            <a:srgbClr val="E3E6EF"/>
          </a:solidFill>
          <a:ln/>
        </p:spPr>
      </p:sp>
      <p:sp>
        <p:nvSpPr>
          <p:cNvPr id="65" name="Text 63"/>
          <p:cNvSpPr/>
          <p:nvPr/>
        </p:nvSpPr>
        <p:spPr>
          <a:xfrm>
            <a:off x="762000" y="9815513"/>
            <a:ext cx="33976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CAREERPROOF AI · 12-MONTH BUILD PLAN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15785009" y="9815513"/>
            <a:ext cx="18171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4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 · THANK YOU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2026-04-28T17:05:40Z</dcterms:created>
  <dcterms:modified xsi:type="dcterms:W3CDTF">2026-04-28T17:05:40Z</dcterms:modified>
</cp:coreProperties>
</file>